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894" r:id="rId1"/>
  </p:sldMasterIdLst>
  <p:notesMasterIdLst>
    <p:notesMasterId r:id="rId45"/>
  </p:notesMasterIdLst>
  <p:sldIdLst>
    <p:sldId id="256" r:id="rId2"/>
    <p:sldId id="257" r:id="rId3"/>
    <p:sldId id="490" r:id="rId4"/>
    <p:sldId id="491" r:id="rId5"/>
    <p:sldId id="492" r:id="rId6"/>
    <p:sldId id="522" r:id="rId7"/>
    <p:sldId id="523" r:id="rId8"/>
    <p:sldId id="493" r:id="rId9"/>
    <p:sldId id="494" r:id="rId10"/>
    <p:sldId id="495" r:id="rId11"/>
    <p:sldId id="496" r:id="rId12"/>
    <p:sldId id="497" r:id="rId13"/>
    <p:sldId id="476" r:id="rId14"/>
    <p:sldId id="292" r:id="rId15"/>
    <p:sldId id="262" r:id="rId16"/>
    <p:sldId id="403" r:id="rId17"/>
    <p:sldId id="404" r:id="rId18"/>
    <p:sldId id="405" r:id="rId19"/>
    <p:sldId id="406" r:id="rId20"/>
    <p:sldId id="407" r:id="rId21"/>
    <p:sldId id="408" r:id="rId22"/>
    <p:sldId id="409" r:id="rId23"/>
    <p:sldId id="410" r:id="rId24"/>
    <p:sldId id="411" r:id="rId25"/>
    <p:sldId id="412" r:id="rId26"/>
    <p:sldId id="413" r:id="rId27"/>
    <p:sldId id="414" r:id="rId28"/>
    <p:sldId id="415" r:id="rId29"/>
    <p:sldId id="498" r:id="rId30"/>
    <p:sldId id="499" r:id="rId31"/>
    <p:sldId id="500" r:id="rId32"/>
    <p:sldId id="266" r:id="rId33"/>
    <p:sldId id="501" r:id="rId34"/>
    <p:sldId id="530" r:id="rId35"/>
    <p:sldId id="297" r:id="rId36"/>
    <p:sldId id="506" r:id="rId37"/>
    <p:sldId id="508" r:id="rId38"/>
    <p:sldId id="510" r:id="rId39"/>
    <p:sldId id="512" r:id="rId40"/>
    <p:sldId id="514" r:id="rId41"/>
    <p:sldId id="502" r:id="rId42"/>
    <p:sldId id="503" r:id="rId43"/>
    <p:sldId id="272" r:id="rId44"/>
  </p:sldIdLst>
  <p:sldSz cx="9144000" cy="5143500" type="screen16x9"/>
  <p:notesSz cx="6858000" cy="9144000"/>
  <p:embeddedFontLst>
    <p:embeddedFont>
      <p:font typeface="Bebas Neue"/>
      <p:regular r:id="rId46"/>
    </p:embeddedFont>
    <p:embeddedFont>
      <p:font typeface="Times" panose="02020603050405020304" pitchFamily="18" charset="0"/>
      <p:regular r:id="rId47"/>
      <p:bold r:id="rId48"/>
      <p:italic r:id="rId49"/>
      <p:boldItalic r:id="rId50"/>
    </p:embeddedFont>
    <p:embeddedFont>
      <p:font typeface="Poppins"/>
      <p:regular r:id="rId46"/>
    </p:embeddedFont>
    <p:embeddedFont>
      <p:font typeface="SimSun" panose="02010600030101010101" pitchFamily="2" charset="-122"/>
      <p:regular r:id="rId51"/>
    </p:embeddedFont>
    <p:embeddedFont>
      <p:font typeface="Calibri" panose="020F0502020204030204" pitchFamily="34" charset="0"/>
      <p:regular r:id="rId52"/>
      <p:bold r:id="rId53"/>
      <p:italic r:id="rId54"/>
      <p:boldItalic r:id="rId55"/>
    </p:embeddedFont>
    <p:embeddedFont>
      <p:font typeface="Poppins Black" panose="00000800000000000000"/>
      <p:bold r:id="rId46"/>
      <p:boldItalic r:id="rId46"/>
    </p:embeddedFont>
    <p:embeddedFont>
      <p:font typeface="Garamond" panose="02020404030301010803" pitchFamily="18" charset="0"/>
      <p:regular r:id="rId56"/>
      <p:bold r:id="rId57"/>
      <p:italic r:id="rId5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786" y="84"/>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7.fntdata"/><Relationship Id="rId58" Type="http://schemas.openxmlformats.org/officeDocument/2006/relationships/font" Target="fonts/font12.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NUL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b28366aba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b28366aba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3970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4491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7392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4445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5840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3178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8284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ctrTitle"/>
          </p:nvPr>
        </p:nvSpPr>
        <p:spPr>
          <a:xfrm>
            <a:off x="2019299" y="1403349"/>
            <a:ext cx="5111752" cy="1136650"/>
          </a:xfrm>
        </p:spPr>
        <p:txBody>
          <a:bodyPr anchor="b">
            <a:noAutofit/>
          </a:bodyPr>
          <a:lstStyle>
            <a:lvl1pPr algn="ctr">
              <a:defRPr sz="405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019299" y="2743198"/>
            <a:ext cx="5111752" cy="9906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5987425" y="3778247"/>
            <a:ext cx="673100" cy="209550"/>
          </a:xfrm>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a:xfrm>
            <a:off x="2019298" y="3778247"/>
            <a:ext cx="3910976" cy="209550"/>
          </a:xfrm>
        </p:spPr>
        <p:txBody>
          <a:bodyPr/>
          <a:lstStyle/>
          <a:p>
            <a:endParaRPr lang="en-US" dirty="0"/>
          </a:p>
        </p:txBody>
      </p:sp>
      <p:sp>
        <p:nvSpPr>
          <p:cNvPr id="6" name="Slide Number Placeholder 5"/>
          <p:cNvSpPr>
            <a:spLocks noGrp="1"/>
          </p:cNvSpPr>
          <p:nvPr>
            <p:ph type="sldNum" sz="quarter" idx="12"/>
          </p:nvPr>
        </p:nvSpPr>
        <p:spPr>
          <a:xfrm>
            <a:off x="6717676" y="3778247"/>
            <a:ext cx="413375" cy="209550"/>
          </a:xfrm>
        </p:spPr>
        <p:txBody>
          <a:bodyPr/>
          <a:lstStyle/>
          <a:p>
            <a:fld id="{D57F1E4F-1CFF-5643-939E-217C01CDF565}" type="slidenum">
              <a:rPr lang="en-US" smtClean="0"/>
              <a:pPr/>
              <a:t>‹#›</a:t>
            </a:fld>
            <a:endParaRPr lang="en-US" dirty="0"/>
          </a:p>
        </p:txBody>
      </p:sp>
      <p:cxnSp>
        <p:nvCxnSpPr>
          <p:cNvPr id="15" name="Straight Connector 14"/>
          <p:cNvCxnSpPr/>
          <p:nvPr/>
        </p:nvCxnSpPr>
        <p:spPr>
          <a:xfrm>
            <a:off x="2019299" y="2641598"/>
            <a:ext cx="5111751"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288474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1816100"/>
            <a:ext cx="7055474"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376386563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11302" y="1314454"/>
            <a:ext cx="6119016" cy="1366886"/>
          </a:xfrm>
        </p:spPr>
        <p:txBody>
          <a:bodyPr anchor="b">
            <a:normAutofit/>
          </a:bodyPr>
          <a:lstStyle>
            <a:lvl1pPr algn="ctr">
              <a:defRPr sz="33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11300" y="2884539"/>
            <a:ext cx="6119018" cy="715910"/>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1509542" y="2782939"/>
            <a:ext cx="6122535"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995091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73836" y="1920240"/>
            <a:ext cx="3538728" cy="2482596"/>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36008" y="1920240"/>
            <a:ext cx="3538728" cy="2482596"/>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132517116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1550" y="1993900"/>
            <a:ext cx="3538728" cy="432197"/>
          </a:xfrm>
        </p:spPr>
        <p:txBody>
          <a:bodyPr anchor="b">
            <a:noAutofit/>
          </a:bodyPr>
          <a:lstStyle>
            <a:lvl1pPr marL="0" indent="0">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971550" y="2432447"/>
            <a:ext cx="3538728" cy="1974454"/>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35503" y="1993900"/>
            <a:ext cx="3538728" cy="432197"/>
          </a:xfrm>
        </p:spPr>
        <p:txBody>
          <a:bodyPr anchor="b">
            <a:noAutofit/>
          </a:bodyPr>
          <a:lstStyle>
            <a:lvl1pPr marL="0" indent="0">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35503" y="2432447"/>
            <a:ext cx="3538728" cy="1974454"/>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C5516DA-9D86-4E1E-A623-C11F9F74EB59}" type="datetimeFigureOut">
              <a:rPr lang="en-US" smtClean="0"/>
              <a:t>11/19/2024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18" name="Straight Connector 17"/>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176676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28538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96990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0359" y="1041401"/>
            <a:ext cx="2788841" cy="1028700"/>
          </a:xfrm>
        </p:spPr>
        <p:txBody>
          <a:bodyPr anchor="b">
            <a:normAutofit/>
          </a:bodyPr>
          <a:lstStyle>
            <a:lvl1pPr algn="ctr">
              <a:defRPr sz="1800" b="0"/>
            </a:lvl1pPr>
          </a:lstStyle>
          <a:p>
            <a:r>
              <a:rPr lang="en-US" smtClean="0"/>
              <a:t>Click to edit Master title style</a:t>
            </a:r>
            <a:endParaRPr lang="en-US" dirty="0"/>
          </a:p>
        </p:txBody>
      </p:sp>
      <p:sp>
        <p:nvSpPr>
          <p:cNvPr id="3" name="Content Placeholder 2"/>
          <p:cNvSpPr>
            <a:spLocks noGrp="1"/>
          </p:cNvSpPr>
          <p:nvPr>
            <p:ph idx="1"/>
          </p:nvPr>
        </p:nvSpPr>
        <p:spPr>
          <a:xfrm>
            <a:off x="4064001" y="736599"/>
            <a:ext cx="4102100" cy="3670301"/>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70359" y="2273299"/>
            <a:ext cx="2788841" cy="1828803"/>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1047127" y="2184400"/>
            <a:ext cx="26358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689842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49" y="1412874"/>
            <a:ext cx="4681362" cy="1028700"/>
          </a:xfrm>
        </p:spPr>
        <p:txBody>
          <a:bodyPr anchor="b">
            <a:normAutofit/>
          </a:bodyPr>
          <a:lstStyle>
            <a:lvl1pPr algn="ctr">
              <a:defRPr sz="21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6071124" y="781050"/>
            <a:ext cx="2297510" cy="35814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971549" y="2441574"/>
            <a:ext cx="4681362" cy="13716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6937149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3611561"/>
            <a:ext cx="7207250" cy="425054"/>
          </a:xfrm>
        </p:spPr>
        <p:txBody>
          <a:bodyPr anchor="b">
            <a:normAutofit/>
          </a:bodyPr>
          <a:lstStyle>
            <a:lvl1pPr algn="ctr">
              <a:defRPr sz="1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81070" y="781050"/>
            <a:ext cx="7579479" cy="2501902"/>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971551" y="4036615"/>
            <a:ext cx="7207250"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6C5516DA-9D86-4E1E-A623-C11F9F74EB59}" type="datetimeFigureOut">
              <a:rPr lang="en-US" smtClean="0"/>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5684987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7901" y="736599"/>
            <a:ext cx="7194549" cy="2216151"/>
          </a:xfrm>
        </p:spPr>
        <p:txBody>
          <a:bodyPr anchor="ctr">
            <a:normAutofit/>
          </a:bodyPr>
          <a:lstStyle>
            <a:lvl1pPr algn="ctr">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77901" y="3257550"/>
            <a:ext cx="7194549"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15" name="Straight Connector 14"/>
          <p:cNvCxnSpPr/>
          <p:nvPr/>
        </p:nvCxnSpPr>
        <p:spPr>
          <a:xfrm>
            <a:off x="1047127" y="3105149"/>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068234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778001"/>
          </a:xfrm>
        </p:spPr>
        <p:txBody>
          <a:bodyPr anchor="ctr">
            <a:normAutofit/>
          </a:bodyPr>
          <a:lstStyle>
            <a:lvl1pPr algn="ctr">
              <a:defRPr sz="24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256109" y="2514600"/>
            <a:ext cx="6629402" cy="43815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Edit Master text styles</a:t>
            </a:r>
          </a:p>
        </p:txBody>
      </p:sp>
      <p:sp>
        <p:nvSpPr>
          <p:cNvPr id="3" name="Text Placeholder 2"/>
          <p:cNvSpPr>
            <a:spLocks noGrp="1"/>
          </p:cNvSpPr>
          <p:nvPr>
            <p:ph type="body" idx="1"/>
          </p:nvPr>
        </p:nvSpPr>
        <p:spPr>
          <a:xfrm>
            <a:off x="971551" y="3257550"/>
            <a:ext cx="7207250"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14" name="TextBox 13"/>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950200" y="2120903"/>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19" name="Straight Connector 18"/>
          <p:cNvCxnSpPr/>
          <p:nvPr/>
        </p:nvCxnSpPr>
        <p:spPr>
          <a:xfrm>
            <a:off x="1047127" y="3105149"/>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172375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1552" y="2481436"/>
            <a:ext cx="7207251" cy="1101600"/>
          </a:xfrm>
        </p:spPr>
        <p:txBody>
          <a:bodyPr anchor="b">
            <a:normAutofit/>
          </a:bodyPr>
          <a:lstStyle>
            <a:lvl1pPr algn="l">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71551" y="3583036"/>
            <a:ext cx="720725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6608615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682751"/>
          </a:xfrm>
        </p:spPr>
        <p:txBody>
          <a:bodyPr anchor="ctr">
            <a:normAutofit/>
          </a:bodyPr>
          <a:lstStyle>
            <a:lvl1pPr algn="ctr">
              <a:defRPr sz="2400" b="0" cap="none">
                <a:solidFill>
                  <a:schemeClr val="tx1"/>
                </a:solidFill>
              </a:defRPr>
            </a:lvl1pPr>
          </a:lstStyle>
          <a:p>
            <a:r>
              <a:rPr lang="en-US" smtClean="0"/>
              <a:t>Click to edit Master title style</a:t>
            </a:r>
            <a:endParaRPr lang="en-US" dirty="0"/>
          </a:p>
        </p:txBody>
      </p:sp>
      <p:sp>
        <p:nvSpPr>
          <p:cNvPr id="14" name="Text Placeholder 2"/>
          <p:cNvSpPr>
            <a:spLocks noGrp="1"/>
          </p:cNvSpPr>
          <p:nvPr>
            <p:ph type="body" idx="13"/>
          </p:nvPr>
        </p:nvSpPr>
        <p:spPr>
          <a:xfrm>
            <a:off x="971551" y="2729484"/>
            <a:ext cx="7207251" cy="665226"/>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971551" y="3397250"/>
            <a:ext cx="7207251" cy="10096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12" name="TextBox 11"/>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3" name="TextBox 12"/>
          <p:cNvSpPr txBox="1"/>
          <p:nvPr/>
        </p:nvSpPr>
        <p:spPr>
          <a:xfrm>
            <a:off x="7950200" y="1949446"/>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26" name="Straight Connector 25"/>
          <p:cNvCxnSpPr/>
          <p:nvPr/>
        </p:nvCxnSpPr>
        <p:spPr>
          <a:xfrm>
            <a:off x="1047127" y="257175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6516098"/>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736599"/>
            <a:ext cx="7207250" cy="1682751"/>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1" name="Text Placeholder 2"/>
          <p:cNvSpPr>
            <a:spLocks noGrp="1"/>
          </p:cNvSpPr>
          <p:nvPr>
            <p:ph type="body" idx="13"/>
          </p:nvPr>
        </p:nvSpPr>
        <p:spPr>
          <a:xfrm>
            <a:off x="971551" y="2722626"/>
            <a:ext cx="7207251" cy="630936"/>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971550" y="3352800"/>
            <a:ext cx="7207253" cy="10541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15" name="Straight Connector 14"/>
          <p:cNvCxnSpPr/>
          <p:nvPr/>
        </p:nvCxnSpPr>
        <p:spPr>
          <a:xfrm>
            <a:off x="1047127" y="257175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601635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347605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736599"/>
            <a:ext cx="1418171" cy="36703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71549" y="736599"/>
            <a:ext cx="5574769" cy="3670301"/>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6647918" y="742950"/>
            <a:ext cx="0" cy="36576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3843752"/>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8"/>
        <p:cNvGrpSpPr/>
        <p:nvPr/>
      </p:nvGrpSpPr>
      <p:grpSpPr>
        <a:xfrm>
          <a:off x="0" y="0"/>
          <a:ext cx="0" cy="0"/>
          <a:chOff x="0" y="0"/>
          <a:chExt cx="0" cy="0"/>
        </a:xfrm>
      </p:grpSpPr>
      <p:sp>
        <p:nvSpPr>
          <p:cNvPr id="15" name="Google Shape;15;p2"/>
          <p:cNvSpPr txBox="1">
            <a:spLocks noGrp="1"/>
          </p:cNvSpPr>
          <p:nvPr>
            <p:ph type="ctrTitle"/>
          </p:nvPr>
        </p:nvSpPr>
        <p:spPr>
          <a:xfrm>
            <a:off x="844850" y="1490700"/>
            <a:ext cx="3795000" cy="21621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Tree>
    <p:extLst>
      <p:ext uri="{BB962C8B-B14F-4D97-AF65-F5344CB8AC3E}">
        <p14:creationId xmlns:p14="http://schemas.microsoft.com/office/powerpoint/2010/main" val="1496502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00"/>
        <p:cNvGrpSpPr/>
        <p:nvPr/>
      </p:nvGrpSpPr>
      <p:grpSpPr>
        <a:xfrm>
          <a:off x="0" y="0"/>
          <a:ext cx="0" cy="0"/>
          <a:chOff x="0" y="0"/>
          <a:chExt cx="0" cy="0"/>
        </a:xfrm>
      </p:grpSpPr>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extLst>
      <p:ext uri="{BB962C8B-B14F-4D97-AF65-F5344CB8AC3E}">
        <p14:creationId xmlns:p14="http://schemas.microsoft.com/office/powerpoint/2010/main" val="1023090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6"/>
        <p:cNvGrpSpPr/>
        <p:nvPr/>
      </p:nvGrpSpPr>
      <p:grpSpPr>
        <a:xfrm>
          <a:off x="0" y="0"/>
          <a:ext cx="0" cy="0"/>
          <a:chOff x="0" y="0"/>
          <a:chExt cx="0" cy="0"/>
        </a:xfrm>
      </p:grpSpPr>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37229704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32"/>
        <p:cNvGrpSpPr/>
        <p:nvPr/>
      </p:nvGrpSpPr>
      <p:grpSpPr>
        <a:xfrm>
          <a:off x="0" y="0"/>
          <a:ext cx="0" cy="0"/>
          <a:chOff x="0" y="0"/>
          <a:chExt cx="0" cy="0"/>
        </a:xfrm>
      </p:grpSpPr>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3539006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14"/>
        <p:cNvGrpSpPr/>
        <p:nvPr/>
      </p:nvGrpSpPr>
      <p:grpSpPr>
        <a:xfrm>
          <a:off x="0" y="0"/>
          <a:ext cx="0" cy="0"/>
          <a:chOff x="0" y="0"/>
          <a:chExt cx="0" cy="0"/>
        </a:xfrm>
      </p:grpSpPr>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30178056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52"/>
        <p:cNvGrpSpPr/>
        <p:nvPr/>
      </p:nvGrpSpPr>
      <p:grpSpPr>
        <a:xfrm>
          <a:off x="0" y="0"/>
          <a:ext cx="0" cy="0"/>
          <a:chOff x="0" y="0"/>
          <a:chExt cx="0" cy="0"/>
        </a:xfrm>
      </p:grpSpPr>
      <p:sp>
        <p:nvSpPr>
          <p:cNvPr id="159" name="Google Shape;159;p18"/>
          <p:cNvSpPr txBox="1">
            <a:spLocks noGrp="1"/>
          </p:cNvSpPr>
          <p:nvPr>
            <p:ph type="title"/>
          </p:nvPr>
        </p:nvSpPr>
        <p:spPr>
          <a:xfrm>
            <a:off x="715100" y="1612750"/>
            <a:ext cx="3401400" cy="189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60" name="Google Shape;160;p18"/>
          <p:cNvSpPr txBox="1">
            <a:spLocks noGrp="1"/>
          </p:cNvSpPr>
          <p:nvPr>
            <p:ph type="body" idx="1"/>
          </p:nvPr>
        </p:nvSpPr>
        <p:spPr>
          <a:xfrm>
            <a:off x="4572000" y="535000"/>
            <a:ext cx="3699300" cy="40734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5"/>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100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5874761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23"/>
        <p:cNvGrpSpPr/>
        <p:nvPr/>
      </p:nvGrpSpPr>
      <p:grpSpPr>
        <a:xfrm>
          <a:off x="0" y="0"/>
          <a:ext cx="0" cy="0"/>
          <a:chOff x="0" y="0"/>
          <a:chExt cx="0" cy="0"/>
        </a:xfrm>
      </p:grpSpPr>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19364096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42"/>
        <p:cNvGrpSpPr/>
        <p:nvPr/>
      </p:nvGrpSpPr>
      <p:grpSpPr>
        <a:xfrm>
          <a:off x="0" y="0"/>
          <a:ext cx="0" cy="0"/>
          <a:chOff x="0" y="0"/>
          <a:chExt cx="0" cy="0"/>
        </a:xfrm>
      </p:grpSpPr>
      <p:sp>
        <p:nvSpPr>
          <p:cNvPr id="149" name="Google Shape;149;p17"/>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50" name="Google Shape;150;p17"/>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4"/>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26810466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61"/>
        <p:cNvGrpSpPr/>
        <p:nvPr/>
      </p:nvGrpSpPr>
      <p:grpSpPr>
        <a:xfrm>
          <a:off x="0" y="0"/>
          <a:ext cx="0" cy="0"/>
          <a:chOff x="0" y="0"/>
          <a:chExt cx="0" cy="0"/>
        </a:xfrm>
      </p:grpSpPr>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extLst>
      <p:ext uri="{BB962C8B-B14F-4D97-AF65-F5344CB8AC3E}">
        <p14:creationId xmlns:p14="http://schemas.microsoft.com/office/powerpoint/2010/main" val="571290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716700"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panose="020B0604020202020204"/>
              <a:buNone/>
              <a:defRPr>
                <a:solidFill>
                  <a:schemeClr val="lt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2pPr>
            <a:lvl3pPr lvl="2"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3pPr>
            <a:lvl4pPr lvl="3"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4pPr>
            <a:lvl5pPr lvl="4"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5pPr>
            <a:lvl6pPr lvl="5"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6pPr>
            <a:lvl7pPr lvl="6"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7pPr>
            <a:lvl8pPr lvl="7"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8pPr>
            <a:lvl9pPr lvl="8"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1064500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50000"/>
              </a:schemeClr>
            </a:gs>
            <a:gs pos="100000">
              <a:schemeClr val="accent4">
                <a:lumMod val="50000"/>
              </a:schemeClr>
            </a:gs>
            <a:gs pos="49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Placeholder 1"/>
          <p:cNvSpPr>
            <a:spLocks noGrp="1"/>
          </p:cNvSpPr>
          <p:nvPr>
            <p:ph type="title"/>
          </p:nvPr>
        </p:nvSpPr>
        <p:spPr>
          <a:xfrm>
            <a:off x="971552" y="736600"/>
            <a:ext cx="7200897" cy="9779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71551" y="1917699"/>
            <a:ext cx="7200897" cy="2489202"/>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508126" y="4476750"/>
            <a:ext cx="1200150"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6C5516DA-9D86-4E1E-A623-C11F9F74EB59}" type="datetimeFigureOut">
              <a:rPr lang="en-US" smtClean="0"/>
              <a:t>11/19/2024</a:t>
            </a:fld>
            <a:endParaRPr lang="en-US" dirty="0"/>
          </a:p>
        </p:txBody>
      </p:sp>
      <p:sp>
        <p:nvSpPr>
          <p:cNvPr id="5" name="Footer Placeholder 4"/>
          <p:cNvSpPr>
            <a:spLocks noGrp="1"/>
          </p:cNvSpPr>
          <p:nvPr>
            <p:ph type="ftr" sz="quarter" idx="3"/>
          </p:nvPr>
        </p:nvSpPr>
        <p:spPr>
          <a:xfrm>
            <a:off x="971551" y="4476750"/>
            <a:ext cx="5479425" cy="20955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7765426" y="4476750"/>
            <a:ext cx="407023"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45139468"/>
      </p:ext>
    </p:extLst>
  </p:cSld>
  <p:clrMap bg1="lt1" tx1="dk1" bg2="lt2" tx2="dk2" accent1="accent1" accent2="accent2" accent3="accent3" accent4="accent4" accent5="accent5" accent6="accent6" hlink="hlink" folHlink="folHlink"/>
  <p:sldLayoutIdLst>
    <p:sldLayoutId id="2147484895" r:id="rId1"/>
    <p:sldLayoutId id="2147484896" r:id="rId2"/>
    <p:sldLayoutId id="2147484897" r:id="rId3"/>
    <p:sldLayoutId id="2147484898" r:id="rId4"/>
    <p:sldLayoutId id="2147484899" r:id="rId5"/>
    <p:sldLayoutId id="2147484900" r:id="rId6"/>
    <p:sldLayoutId id="2147484901" r:id="rId7"/>
    <p:sldLayoutId id="2147484902" r:id="rId8"/>
    <p:sldLayoutId id="2147484903" r:id="rId9"/>
    <p:sldLayoutId id="2147484904" r:id="rId10"/>
    <p:sldLayoutId id="2147484905" r:id="rId11"/>
    <p:sldLayoutId id="2147484906" r:id="rId12"/>
    <p:sldLayoutId id="2147484907" r:id="rId13"/>
    <p:sldLayoutId id="2147484908" r:id="rId14"/>
    <p:sldLayoutId id="2147484909" r:id="rId15"/>
    <p:sldLayoutId id="2147484910" r:id="rId16"/>
    <p:sldLayoutId id="2147484911" r:id="rId17"/>
    <p:sldLayoutId id="2147484912" r:id="rId18"/>
    <p:sldLayoutId id="2147484913" r:id="rId19"/>
    <p:sldLayoutId id="2147484914" r:id="rId20"/>
    <p:sldLayoutId id="2147484915" r:id="rId21"/>
    <p:sldLayoutId id="2147484916" r:id="rId22"/>
    <p:sldLayoutId id="2147484917" r:id="rId23"/>
    <p:sldLayoutId id="2147484918" r:id="rId24"/>
    <p:sldLayoutId id="2147484919" r:id="rId25"/>
    <p:sldLayoutId id="2147484920" r:id="rId26"/>
    <p:sldLayoutId id="2147484921" r:id="rId27"/>
  </p:sldLayoutIdLst>
  <p:hf hdr="0" ftr="0" dt="0"/>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accent1"/>
        </a:buClr>
        <a:buSzPct val="115000"/>
        <a:buFont typeface="Arial"/>
        <a:buChar char="•"/>
        <a:defRPr sz="1500" kern="1200" cap="none">
          <a:solidFill>
            <a:schemeClr val="tx1">
              <a:lumMod val="85000"/>
              <a:lumOff val="1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accent1"/>
        </a:buClr>
        <a:buSzPct val="115000"/>
        <a:buFont typeface="Arial"/>
        <a:buChar char="•"/>
        <a:defRPr sz="1350" kern="1200" cap="none">
          <a:solidFill>
            <a:schemeClr val="tx1">
              <a:lumMod val="85000"/>
              <a:lumOff val="1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accent1"/>
        </a:buClr>
        <a:buSzPct val="115000"/>
        <a:buFont typeface="Arial"/>
        <a:buChar char="•"/>
        <a:defRPr sz="1200" kern="1200" cap="none">
          <a:solidFill>
            <a:schemeClr val="tx1">
              <a:lumMod val="85000"/>
              <a:lumOff val="1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3" name="Rectangle 2"/>
          <p:cNvSpPr/>
          <p:nvPr/>
        </p:nvSpPr>
        <p:spPr>
          <a:xfrm>
            <a:off x="1311215" y="897147"/>
            <a:ext cx="7476535" cy="2062103"/>
          </a:xfrm>
          <a:prstGeom prst="rect">
            <a:avLst/>
          </a:prstGeom>
        </p:spPr>
        <p:txBody>
          <a:bodyPr wrap="square">
            <a:spAutoFit/>
          </a:bodyPr>
          <a:lstStyle/>
          <a:p>
            <a:pPr algn="ctr"/>
            <a:r>
              <a:rPr lang="en-US" sz="3200" b="1" dirty="0">
                <a:latin typeface="Times New Roman" panose="02020603050405020304" pitchFamily="18" charset="0"/>
                <a:ea typeface="Times New Roman" panose="02020603050405020304" pitchFamily="18" charset="0"/>
              </a:rPr>
              <a:t>ADAPTIVE MONITORING FOR EARLY STAGE RANSOMWARE DETECTION VIA BEHAVIOUR AND NETWORK TRAFFIC ANALYSIS</a:t>
            </a:r>
            <a:endParaRPr lang="en-IN" sz="3200" b="1" dirty="0">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rPr>
              <a:t>Contents of the presentation</a:t>
            </a:r>
            <a:endParaRPr sz="2400" dirty="0">
              <a:solidFill>
                <a:schemeClr val="tx1"/>
              </a:solidFill>
            </a:endParaRPr>
          </a:p>
        </p:txBody>
      </p:sp>
      <p:sp>
        <p:nvSpPr>
          <p:cNvPr id="8" name="TextBox 7"/>
          <p:cNvSpPr txBox="1"/>
          <p:nvPr/>
        </p:nvSpPr>
        <p:spPr>
          <a:xfrm>
            <a:off x="1645585" y="1245700"/>
            <a:ext cx="2544418" cy="397031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err="1" smtClean="0">
                <a:latin typeface="Times New Roman" panose="02020603050405020304" pitchFamily="18" charset="0"/>
                <a:cs typeface="Times New Roman" panose="02020603050405020304" pitchFamily="18" charset="0"/>
              </a:rPr>
              <a:t>Umls</a:t>
            </a:r>
            <a:endParaRPr lang="en-US" sz="1200" dirty="0" smtClean="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Research Gap analysis</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Implementation</a:t>
            </a:r>
          </a:p>
          <a:p>
            <a:pPr marL="342900" indent="-342900" algn="just">
              <a:lnSpc>
                <a:spcPct val="150000"/>
              </a:lnSpc>
              <a:buFont typeface="Wingdings" panose="05000000000000000000" pitchFamily="2" charset="2"/>
              <a:buChar char="ü"/>
            </a:pPr>
            <a:endParaRPr lang="en-US" sz="1200" dirty="0" smtClean="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2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4138061" y="1245700"/>
            <a:ext cx="3728172" cy="147732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Implementation</a:t>
            </a:r>
          </a:p>
          <a:p>
            <a:pPr marL="8001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1. Data Description</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Model </a:t>
            </a:r>
            <a:r>
              <a:rPr lang="en-US" sz="1200" dirty="0" smtClean="0">
                <a:latin typeface="Times New Roman" panose="02020603050405020304" pitchFamily="18" charset="0"/>
                <a:cs typeface="Times New Roman" panose="02020603050405020304" pitchFamily="18" charset="0"/>
              </a:rPr>
              <a:t>Implementation</a:t>
            </a:r>
          </a:p>
          <a:p>
            <a:pPr algn="just">
              <a:lnSpc>
                <a:spcPct val="150000"/>
              </a:lnSpc>
            </a:pPr>
            <a:r>
              <a:rPr lang="en-US" sz="1200" dirty="0" smtClean="0">
                <a:latin typeface="Times New Roman" panose="02020603050405020304" pitchFamily="18" charset="0"/>
                <a:cs typeface="Times New Roman" panose="02020603050405020304" pitchFamily="18" charset="0"/>
              </a:rPr>
              <a:t>	1. Algorithm Definition</a:t>
            </a:r>
          </a:p>
          <a:p>
            <a:pPr algn="just">
              <a:lnSpc>
                <a:spcPct val="150000"/>
              </a:lnSpc>
            </a:pPr>
            <a:r>
              <a:rPr lang="en-US" sz="1200" dirty="0" smtClean="0">
                <a:latin typeface="Times New Roman" panose="02020603050405020304" pitchFamily="18" charset="0"/>
                <a:cs typeface="Times New Roman" panose="02020603050405020304" pitchFamily="18" charset="0"/>
              </a:rPr>
              <a:t>Reference</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399124" y="-3911"/>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1800" b="1" dirty="0" smtClean="0">
                <a:solidFill>
                  <a:schemeClr val="tx1"/>
                </a:solidFill>
                <a:latin typeface="Times New Roman" panose="02020603050405020304" pitchFamily="18" charset="0"/>
                <a:cs typeface="Times New Roman" panose="02020603050405020304" pitchFamily="18" charset="0"/>
              </a:rPr>
              <a:t>Project Description</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399124" y="536047"/>
            <a:ext cx="8490876" cy="4214102"/>
          </a:xfrm>
          <a:prstGeom prst="rect">
            <a:avLst/>
          </a:prstGeom>
        </p:spPr>
        <p:txBody>
          <a:bodyPr wrap="square">
            <a:spAutoFit/>
          </a:bodyPr>
          <a:lstStyle/>
          <a:p>
            <a:pPr algn="just">
              <a:lnSpc>
                <a:spcPct val="150000"/>
              </a:lnSpc>
            </a:pPr>
            <a:r>
              <a:rPr lang="en-IN" sz="1200" dirty="0">
                <a:latin typeface="Times New Roman" panose="02020603050405020304" pitchFamily="18" charset="0"/>
                <a:cs typeface="Times New Roman" panose="02020603050405020304" pitchFamily="18" charset="0"/>
              </a:rPr>
              <a:t>The rise of ransomware attacks has underscored the urgent need for advanced detection mechanisms to identify threats in their early stages. Traditional signature-based detection methods often fail to recognize new or evolving ransomware strains, making adaptive and proactive monitoring critical. This paper proposes a robust framework for early-stage ransomware detection through adaptive monitoring, leveraging both </a:t>
            </a:r>
            <a:r>
              <a:rPr lang="en-IN" sz="1200" dirty="0" err="1">
                <a:latin typeface="Times New Roman" panose="02020603050405020304" pitchFamily="18" charset="0"/>
                <a:cs typeface="Times New Roman" panose="02020603050405020304" pitchFamily="18" charset="0"/>
              </a:rPr>
              <a:t>behavioral</a:t>
            </a:r>
            <a:r>
              <a:rPr lang="en-IN" sz="1200" dirty="0">
                <a:latin typeface="Times New Roman" panose="02020603050405020304" pitchFamily="18" charset="0"/>
                <a:cs typeface="Times New Roman" panose="02020603050405020304" pitchFamily="18" charset="0"/>
              </a:rPr>
              <a:t> analysis and network traffic examination. The approach combines machine learning algorithms with real-time monitoring of system </a:t>
            </a:r>
            <a:r>
              <a:rPr lang="en-IN" sz="1200" dirty="0" err="1">
                <a:latin typeface="Times New Roman" panose="02020603050405020304" pitchFamily="18" charset="0"/>
                <a:cs typeface="Times New Roman" panose="02020603050405020304" pitchFamily="18" charset="0"/>
              </a:rPr>
              <a:t>behaviors</a:t>
            </a:r>
            <a:r>
              <a:rPr lang="en-IN" sz="1200" dirty="0">
                <a:latin typeface="Times New Roman" panose="02020603050405020304" pitchFamily="18" charset="0"/>
                <a:cs typeface="Times New Roman" panose="02020603050405020304" pitchFamily="18" charset="0"/>
              </a:rPr>
              <a:t> and network patterns to detect anomalies indicative of ransomware activity. By </a:t>
            </a:r>
            <a:r>
              <a:rPr lang="en-IN" sz="1200" dirty="0" err="1">
                <a:latin typeface="Times New Roman" panose="02020603050405020304" pitchFamily="18" charset="0"/>
                <a:cs typeface="Times New Roman" panose="02020603050405020304" pitchFamily="18" charset="0"/>
              </a:rPr>
              <a:t>analyzing</a:t>
            </a:r>
            <a:r>
              <a:rPr lang="en-IN" sz="1200" dirty="0">
                <a:latin typeface="Times New Roman" panose="02020603050405020304" pitchFamily="18" charset="0"/>
                <a:cs typeface="Times New Roman" panose="02020603050405020304" pitchFamily="18" charset="0"/>
              </a:rPr>
              <a:t> file access patterns, encryption processes, and unauthorized data movements alongside unusual network traffic such as large data transfers or encrypted communication, the proposed system identifies early indicators of potential ransomware activity. Adaptive models are trained to evolve with new data, enhancing the system’s resilience against novel ransomware tactics and minimizing false </a:t>
            </a:r>
            <a:r>
              <a:rPr lang="en-IN" sz="1200" dirty="0" err="1">
                <a:latin typeface="Times New Roman" panose="02020603050405020304" pitchFamily="18" charset="0"/>
                <a:cs typeface="Times New Roman" panose="02020603050405020304" pitchFamily="18" charset="0"/>
              </a:rPr>
              <a:t>positives.The</a:t>
            </a:r>
            <a:r>
              <a:rPr lang="en-IN" sz="1200" dirty="0">
                <a:latin typeface="Times New Roman" panose="02020603050405020304" pitchFamily="18" charset="0"/>
                <a:cs typeface="Times New Roman" panose="02020603050405020304" pitchFamily="18" charset="0"/>
              </a:rPr>
              <a:t> proposed framework integrates a multi-layered approach, ensuring comprehensive monitoring and early alerts, which are crucial for mitigating damage and preventing the spread of ransomware across networks. Experimental results demonstrate that this adaptive monitoring approach can detect ransomware at early stages, reducing response time and enabling </a:t>
            </a:r>
            <a:r>
              <a:rPr lang="en-IN" sz="1200" dirty="0" err="1">
                <a:latin typeface="Times New Roman" panose="02020603050405020304" pitchFamily="18" charset="0"/>
                <a:cs typeface="Times New Roman" panose="02020603050405020304" pitchFamily="18" charset="0"/>
              </a:rPr>
              <a:t>preemptive</a:t>
            </a:r>
            <a:r>
              <a:rPr lang="en-IN" sz="1200" dirty="0">
                <a:latin typeface="Times New Roman" panose="02020603050405020304" pitchFamily="18" charset="0"/>
                <a:cs typeface="Times New Roman" panose="02020603050405020304" pitchFamily="18" charset="0"/>
              </a:rPr>
              <a:t> actions, such as isolating affected systems, to safeguard organizational </a:t>
            </a:r>
            <a:r>
              <a:rPr lang="en-IN" sz="1200" dirty="0" smtClean="0">
                <a:latin typeface="Times New Roman" panose="02020603050405020304" pitchFamily="18" charset="0"/>
                <a:cs typeface="Times New Roman" panose="02020603050405020304" pitchFamily="18" charset="0"/>
              </a:rPr>
              <a:t>assets</a:t>
            </a:r>
          </a:p>
          <a:p>
            <a:pPr algn="just">
              <a:lnSpc>
                <a:spcPct val="150000"/>
              </a:lnSpc>
            </a:pPr>
            <a:r>
              <a:rPr lang="en-US" sz="1200" b="1" dirty="0">
                <a:latin typeface="Times New Roman" panose="02020603050405020304" pitchFamily="18" charset="0"/>
                <a:cs typeface="Times New Roman" panose="02020603050405020304" pitchFamily="18" charset="0"/>
              </a:rPr>
              <a:t>Keywords:</a:t>
            </a:r>
            <a:r>
              <a:rPr lang="en-US" sz="120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 Ransomware </a:t>
            </a:r>
            <a:r>
              <a:rPr lang="en-IN" sz="1200" dirty="0" err="1">
                <a:latin typeface="Times New Roman" panose="02020603050405020304" pitchFamily="18" charset="0"/>
                <a:cs typeface="Times New Roman" panose="02020603050405020304" pitchFamily="18" charset="0"/>
              </a:rPr>
              <a:t>Detection,Adaptive</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Monitoring,Behavioral</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Analysis,Network</a:t>
            </a:r>
            <a:r>
              <a:rPr lang="en-IN" sz="1200" dirty="0">
                <a:latin typeface="Times New Roman" panose="02020603050405020304" pitchFamily="18" charset="0"/>
                <a:cs typeface="Times New Roman" panose="02020603050405020304" pitchFamily="18" charset="0"/>
              </a:rPr>
              <a:t> Traffic </a:t>
            </a:r>
            <a:r>
              <a:rPr lang="en-IN" sz="1200" dirty="0" err="1">
                <a:latin typeface="Times New Roman" panose="02020603050405020304" pitchFamily="18" charset="0"/>
                <a:cs typeface="Times New Roman" panose="02020603050405020304" pitchFamily="18" charset="0"/>
              </a:rPr>
              <a:t>Analysis,Early</a:t>
            </a:r>
            <a:r>
              <a:rPr lang="en-IN" sz="1200" dirty="0">
                <a:latin typeface="Times New Roman" panose="02020603050405020304" pitchFamily="18" charset="0"/>
                <a:cs typeface="Times New Roman" panose="02020603050405020304" pitchFamily="18" charset="0"/>
              </a:rPr>
              <a:t>-Stage </a:t>
            </a:r>
            <a:r>
              <a:rPr lang="en-IN" sz="1200" dirty="0" err="1">
                <a:latin typeface="Times New Roman" panose="02020603050405020304" pitchFamily="18" charset="0"/>
                <a:cs typeface="Times New Roman" panose="02020603050405020304" pitchFamily="18" charset="0"/>
              </a:rPr>
              <a:t>Detection,Machine</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Learning,Cybersecurity,Anomaly</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Detection,Real</a:t>
            </a:r>
            <a:r>
              <a:rPr lang="en-IN" sz="1200" dirty="0">
                <a:latin typeface="Times New Roman" panose="02020603050405020304" pitchFamily="18" charset="0"/>
                <a:cs typeface="Times New Roman" panose="02020603050405020304" pitchFamily="18" charset="0"/>
              </a:rPr>
              <a:t>-Time </a:t>
            </a:r>
            <a:r>
              <a:rPr lang="en-IN" sz="1200" dirty="0" err="1">
                <a:latin typeface="Times New Roman" panose="02020603050405020304" pitchFamily="18" charset="0"/>
                <a:cs typeface="Times New Roman" panose="02020603050405020304" pitchFamily="18" charset="0"/>
              </a:rPr>
              <a:t>Monitoring,Malware</a:t>
            </a:r>
            <a:r>
              <a:rPr lang="en-IN" sz="1200" dirty="0">
                <a:latin typeface="Times New Roman" panose="02020603050405020304" pitchFamily="18" charset="0"/>
                <a:cs typeface="Times New Roman" panose="02020603050405020304" pitchFamily="18" charset="0"/>
              </a:rPr>
              <a:t> Prevention</a:t>
            </a:r>
          </a:p>
          <a:p>
            <a:pPr algn="just">
              <a:lnSpc>
                <a:spcPct val="150000"/>
              </a:lnSpc>
            </a:pP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627710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59447" y="0"/>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1800" b="1" dirty="0" smtClean="0">
                <a:solidFill>
                  <a:schemeClr val="tx1"/>
                </a:solidFill>
                <a:latin typeface="Times New Roman" panose="02020603050405020304" pitchFamily="18" charset="0"/>
                <a:cs typeface="Times New Roman" panose="02020603050405020304" pitchFamily="18" charset="0"/>
              </a:rPr>
              <a:t>Problem Statement</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21424" y="613119"/>
            <a:ext cx="8138159" cy="2829108"/>
          </a:xfrm>
          <a:prstGeom prst="rect">
            <a:avLst/>
          </a:prstGeom>
          <a:noFill/>
        </p:spPr>
        <p:txBody>
          <a:bodyPr wrap="square" rtlCol="0">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The rapidly evolving nature of ransomware presents significant challenges to existing cybersecurity mechanisms. Traditional signature-based detection methods often fail to recognize novel ransomware strains or zero-day attacks, leaving systems vulnerable to sophisticated threats. Furthermore, many current detection approaches lack the ability to identify early indicators of ransomware activity, such as suspicious file access patterns, encryption processes, and unauthorized data transfers, leading to delayed responses and increased damage. The absence of integrated behavioral and network traffic analysis exacerbates this issue, as organizations struggle to identify and mitigate ransomware before it causes irreparable harm. As ransomware techniques continue to evolve, attackers exploit these limitations to bypass detection systems and execute their malicious operations. The lack of adaptive monitoring mechanisms compounds the problem, as static models fail to adapt to new attack vectors. Therefore, there is an urgent need for a comprehensive framework that integrates machine learning-driven behavioral analysis and network traffic examination to detect anomalies in real-time, enabling proactive and effective mitigation of ransomware threats.</a:t>
            </a:r>
            <a:r>
              <a:rPr lang="en-US" sz="1200" b="1"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93361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xfrm>
            <a:off x="498664" y="181714"/>
            <a:ext cx="7713900" cy="71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1800" b="1" dirty="0" smtClean="0">
                <a:solidFill>
                  <a:schemeClr val="tx1"/>
                </a:solidFill>
                <a:latin typeface="Times New Roman" panose="02020603050405020304" pitchFamily="18" charset="0"/>
                <a:cs typeface="Times New Roman" panose="02020603050405020304" pitchFamily="18" charset="0"/>
              </a:rPr>
              <a:t>Objective of the Project</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
        <p:nvSpPr>
          <p:cNvPr id="2" name="Rectangle 1"/>
          <p:cNvSpPr/>
          <p:nvPr/>
        </p:nvSpPr>
        <p:spPr>
          <a:xfrm>
            <a:off x="338667" y="840656"/>
            <a:ext cx="8504102" cy="3175356"/>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The primary objective of this project is to design and develop an adaptive monitoring framework for the early detection of ransomware using behavioral and network traffic analysis. This framework aims to identify ransomware activity in its nascent stages by analyzing system behaviors, such as file access patterns, encryption processes, and unauthorized data movements, alongside unusual network traffic indicators, including large data transfers and encrypted communication. By leveraging machine learning algorithms, the system will detect anomalies indicative of ransomware, enabling rapid response and mitigation. A key focus is on developing adaptive models that evolve with new data, ensuring resilience against emerging ransomware tactics. The framework will also minimize false positives, enhancing detection accuracy and operational efficiency. Additionally, the project aims to integrate a multi-layered approach, combining real-time monitoring, anomaly detection, and preemptive action mechanisms, such as isolating affected systems. This comprehensive framework will provide organizations with a robust defense mechanism, reducing response time, mitigating damage, and safeguarding critical assets from ransomware attacks.</a:t>
            </a:r>
            <a:r>
              <a:rPr lang="en-US" sz="1200" b="1"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a:p>
            <a:pPr marL="146050" indent="0" algn="just">
              <a:lnSpc>
                <a:spcPct val="200000"/>
              </a:lnSpc>
              <a:buNone/>
            </a:pPr>
            <a:endParaRPr lang="en-US" sz="12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9295519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6</a:t>
            </a:fld>
            <a:endParaRPr lang="en-US" dirty="0"/>
          </a:p>
        </p:txBody>
      </p:sp>
      <p:sp>
        <p:nvSpPr>
          <p:cNvPr id="3" name="Rectangle 2"/>
          <p:cNvSpPr/>
          <p:nvPr/>
        </p:nvSpPr>
        <p:spPr>
          <a:xfrm>
            <a:off x="3818592" y="319617"/>
            <a:ext cx="761747" cy="369332"/>
          </a:xfrm>
          <a:prstGeom prst="rect">
            <a:avLst/>
          </a:prstGeom>
        </p:spPr>
        <p:txBody>
          <a:bodyPr wrap="none">
            <a:spAutoFit/>
          </a:bodyPr>
          <a:lstStyle/>
          <a:p>
            <a:r>
              <a:rPr lang="en-GB" b="1" dirty="0">
                <a:latin typeface="Times New Roman" panose="02020603050405020304" pitchFamily="18" charset="0"/>
                <a:cs typeface="Times New Roman" panose="02020603050405020304" pitchFamily="18" charset="0"/>
              </a:rPr>
              <a:t>Scope</a:t>
            </a:r>
            <a:endParaRPr lang="en-IN" dirty="0"/>
          </a:p>
        </p:txBody>
      </p:sp>
      <p:sp>
        <p:nvSpPr>
          <p:cNvPr id="4" name="Rectangle 3"/>
          <p:cNvSpPr/>
          <p:nvPr/>
        </p:nvSpPr>
        <p:spPr>
          <a:xfrm>
            <a:off x="570251" y="814834"/>
            <a:ext cx="8020176" cy="3139321"/>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This project encompasses the development of a comprehensive ransomware detection system that combines behavioral analysis and network traffic monitoring to identify threats in their early stages. The scope includes leveraging machine learning algorithms for real-time anomaly detection, focusing on features such as file access patterns, encryption processes, unauthorized data movements, and unusual network traffic. The adaptive nature of the framework ensures it evolves with emerging ransomware techniques, providing robust protection against novel threats. The system will be designed for scalability, allowing deployment in diverse environments, including corporate networks, government infrastructures, and cloud-based systems. Furthermore, the project aims to minimize false positives and enhance detection accuracy through extensive model training and validation using real-world datasets. The implementation will include mechanisms for preemptive actions, such as system isolation and alert generation, to mitigate potential damage. By addressing the limitations of traditional signature-based detection systems, this project aims to contribute to the development of intelligent cybersecurity solutions that enhance organizational resilience against ransomware attacks.</a:t>
            </a:r>
            <a:r>
              <a:rPr lang="en-US" sz="1200" b="1"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3524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7</a:t>
            </a:fld>
            <a:endParaRPr lang="en-US" dirty="0"/>
          </a:p>
        </p:txBody>
      </p:sp>
      <p:sp>
        <p:nvSpPr>
          <p:cNvPr id="3" name="Rectangle 2"/>
          <p:cNvSpPr/>
          <p:nvPr/>
        </p:nvSpPr>
        <p:spPr>
          <a:xfrm>
            <a:off x="3631124" y="468123"/>
            <a:ext cx="1274708" cy="463397"/>
          </a:xfrm>
          <a:prstGeom prst="rect">
            <a:avLst/>
          </a:prstGeom>
        </p:spPr>
        <p:txBody>
          <a:bodyPr wrap="none">
            <a:spAutoFit/>
          </a:bodyPr>
          <a:lstStyle/>
          <a:p>
            <a:pPr algn="just">
              <a:lnSpc>
                <a:spcPct val="150000"/>
              </a:lnSpc>
              <a:spcAft>
                <a:spcPts val="0"/>
              </a:spcAft>
            </a:pPr>
            <a:r>
              <a:rPr lang="en-IN" b="1" dirty="0" smtClean="0">
                <a:latin typeface="Times New Roman" panose="02020603050405020304" pitchFamily="18" charset="0"/>
                <a:ea typeface="Calibri" panose="020F0502020204030204" pitchFamily="34" charset="0"/>
                <a:cs typeface="Times New Roman" panose="02020603050405020304" pitchFamily="18" charset="0"/>
              </a:rPr>
              <a:t>Motivation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600655" y="948773"/>
            <a:ext cx="8146530" cy="3527977"/>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Ransomware has emerged as one of the most pervasive and damaging forms of cyber threats, targeting individuals, businesses, and governments alike. Traditional detection systems, often reliant on signature-based methods, are ineffective against rapidly evolving ransomware strains and zero-day attacks. The financial and reputational damage caused by these attacks can be catastrophic, ranging from operational disruptions to significant data loss and ransom payments. This alarming rise underscores the need for more adaptive, intelligent, and proactive monitoring systems capable of identifying threats in their early stages. Early detection can prevent the encryption of critical data and the lateral spread of ransomware across organizational networks, significantly mitigating potential damage. Moreover, with the increasing complexity and sophistication of ransomware techniques, such as </a:t>
            </a:r>
            <a:r>
              <a:rPr lang="en-US" sz="1200" dirty="0" err="1">
                <a:latin typeface="Times New Roman" panose="02020603050405020304" pitchFamily="18" charset="0"/>
                <a:cs typeface="Times New Roman" panose="02020603050405020304" pitchFamily="18" charset="0"/>
              </a:rPr>
              <a:t>fileless</a:t>
            </a:r>
            <a:r>
              <a:rPr lang="en-US" sz="1200" dirty="0">
                <a:latin typeface="Times New Roman" panose="02020603050405020304" pitchFamily="18" charset="0"/>
                <a:cs typeface="Times New Roman" panose="02020603050405020304" pitchFamily="18" charset="0"/>
              </a:rPr>
              <a:t> attacks and encryption obfuscation, organizations require advanced solutions that combine behavioral and network traffic analysis to detect anomalies indicative of malicious activity. This study aims to address the pressing need for an adaptive ransomware detection framework that evolves with emerging threats, ensuring robust protection for organizational assets and fostering resilience against cyberattacks.</a:t>
            </a:r>
            <a:r>
              <a:rPr lang="en-US" sz="1200" b="1"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a:p>
            <a:pPr algn="just">
              <a:lnSpc>
                <a:spcPct val="150000"/>
              </a:lnSpc>
              <a:spcAft>
                <a:spcPts val="0"/>
              </a:spcAft>
            </a:pPr>
            <a:r>
              <a:rPr lang="en-IN" dirty="0">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05734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950" y="317500"/>
            <a:ext cx="5067300" cy="609600"/>
          </a:xfrm>
        </p:spPr>
        <p:txBody>
          <a:bodyPr/>
          <a:lstStyle/>
          <a:p>
            <a:r>
              <a:rPr lang="en-GB" sz="2400" dirty="0" smtClean="0">
                <a:solidFill>
                  <a:schemeClr val="tx1"/>
                </a:solidFill>
                <a:latin typeface="Times New Roman" panose="02020603050405020304" pitchFamily="18" charset="0"/>
                <a:cs typeface="Times New Roman" panose="02020603050405020304" pitchFamily="18" charset="0"/>
              </a:rPr>
              <a:t>Literature Survey</a:t>
            </a:r>
            <a:endParaRPr lang="en-IN"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125294925"/>
              </p:ext>
            </p:extLst>
          </p:nvPr>
        </p:nvGraphicFramePr>
        <p:xfrm>
          <a:off x="753712" y="927100"/>
          <a:ext cx="7586001" cy="3450347"/>
        </p:xfrm>
        <a:graphic>
          <a:graphicData uri="http://schemas.openxmlformats.org/drawingml/2006/table">
            <a:tbl>
              <a:tblPr firstRow="1" bandRow="1">
                <a:tableStyleId>{5C22544A-7EE6-4342-B048-85BDC9FD1C3A}</a:tableStyleId>
              </a:tblPr>
              <a:tblGrid>
                <a:gridCol w="539060">
                  <a:extLst>
                    <a:ext uri="{9D8B030D-6E8A-4147-A177-3AD203B41FA5}">
                      <a16:colId xmlns:a16="http://schemas.microsoft.com/office/drawing/2014/main" val="20000"/>
                    </a:ext>
                  </a:extLst>
                </a:gridCol>
                <a:gridCol w="986987">
                  <a:extLst>
                    <a:ext uri="{9D8B030D-6E8A-4147-A177-3AD203B41FA5}">
                      <a16:colId xmlns:a16="http://schemas.microsoft.com/office/drawing/2014/main" val="20001"/>
                    </a:ext>
                  </a:extLst>
                </a:gridCol>
                <a:gridCol w="1208508">
                  <a:extLst>
                    <a:ext uri="{9D8B030D-6E8A-4147-A177-3AD203B41FA5}">
                      <a16:colId xmlns:a16="http://schemas.microsoft.com/office/drawing/2014/main" val="20002"/>
                    </a:ext>
                  </a:extLst>
                </a:gridCol>
                <a:gridCol w="1655345">
                  <a:extLst>
                    <a:ext uri="{9D8B030D-6E8A-4147-A177-3AD203B41FA5}">
                      <a16:colId xmlns:a16="http://schemas.microsoft.com/office/drawing/2014/main" val="20003"/>
                    </a:ext>
                  </a:extLst>
                </a:gridCol>
                <a:gridCol w="3196101">
                  <a:extLst>
                    <a:ext uri="{9D8B030D-6E8A-4147-A177-3AD203B41FA5}">
                      <a16:colId xmlns:a16="http://schemas.microsoft.com/office/drawing/2014/main" val="20004"/>
                    </a:ext>
                  </a:extLst>
                </a:gridCol>
              </a:tblGrid>
              <a:tr h="278130">
                <a:tc>
                  <a:txBody>
                    <a:bodyPr/>
                    <a:lstStyle/>
                    <a:p>
                      <a:r>
                        <a:rPr lang="en-US" sz="1100" dirty="0">
                          <a:solidFill>
                            <a:schemeClr val="tx1"/>
                          </a:solidFill>
                          <a:latin typeface="Times New Roman" panose="02020603050405020304" pitchFamily="18" charset="0"/>
                          <a:cs typeface="Times New Roman" panose="02020603050405020304" pitchFamily="18" charset="0"/>
                        </a:rPr>
                        <a:t>S.NO</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YEAR</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AUTHORS</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TITLE</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OUT COMES</a:t>
                      </a:r>
                    </a:p>
                  </a:txBody>
                  <a:tcPr marL="68580" marR="68580" marT="34290" marB="34290">
                    <a:solidFill>
                      <a:schemeClr val="accent3"/>
                    </a:solidFill>
                  </a:tcPr>
                </a:tc>
                <a:extLst>
                  <a:ext uri="{0D108BD9-81ED-4DB2-BD59-A6C34878D82A}">
                    <a16:rowId xmlns:a16="http://schemas.microsoft.com/office/drawing/2014/main" val="10000"/>
                  </a:ext>
                </a:extLst>
              </a:tr>
              <a:tr h="1671320">
                <a:tc>
                  <a:txBody>
                    <a:bodyPr/>
                    <a:lstStyle/>
                    <a:p>
                      <a:pPr algn="just"/>
                      <a:r>
                        <a:rPr lang="en-US" sz="1100" dirty="0" smtClean="0">
                          <a:solidFill>
                            <a:schemeClr val="tx1"/>
                          </a:solidFill>
                          <a:latin typeface="Times New Roman" panose="02020603050405020304" pitchFamily="18" charset="0"/>
                          <a:cs typeface="Times New Roman" panose="02020603050405020304" pitchFamily="18" charset="0"/>
                        </a:rPr>
                        <a:t>1</a:t>
                      </a:r>
                      <a:endParaRPr lang="en-IN" sz="11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marL="0" marR="0" lvl="0" indent="0" algn="just" defTabSz="342900" rtl="0" eaLnBrk="1" fontAlgn="auto" latinLnBrk="0" hangingPunct="1">
                        <a:lnSpc>
                          <a:spcPct val="100000"/>
                        </a:lnSpc>
                        <a:spcBef>
                          <a:spcPts val="0"/>
                        </a:spcBef>
                        <a:spcAft>
                          <a:spcPts val="0"/>
                        </a:spcAft>
                        <a:buClrTx/>
                        <a:buSzTx/>
                        <a:buFontTx/>
                        <a:buNone/>
                        <a:tabLst/>
                        <a:defRPr/>
                      </a:pPr>
                      <a:r>
                        <a:rPr lang="en-IN" sz="1350" b="1" kern="1200" dirty="0" smtClean="0">
                          <a:solidFill>
                            <a:schemeClr val="dk1"/>
                          </a:solidFill>
                          <a:effectLst/>
                          <a:latin typeface="+mn-lt"/>
                          <a:ea typeface="+mn-ea"/>
                          <a:cs typeface="+mn-cs"/>
                        </a:rPr>
                        <a:t>2024</a:t>
                      </a:r>
                      <a:endParaRPr lang="en-IN" sz="12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1" kern="1200" dirty="0" smtClean="0">
                          <a:solidFill>
                            <a:schemeClr val="tx1"/>
                          </a:solidFill>
                          <a:effectLst/>
                          <a:latin typeface="Times New Roman" panose="02020603050405020304" pitchFamily="18" charset="0"/>
                          <a:ea typeface="+mn-ea"/>
                          <a:cs typeface="Times New Roman" panose="02020603050405020304" pitchFamily="18" charset="0"/>
                        </a:rPr>
                        <a:t>G. Li, S. Wang, Y. Chen, J. Zhou, and Q. Zhao</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A Hybrid Framework for Ransomware Detection Using Deep Learning and Monte Carlo Tree Search</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kern="1200" dirty="0" smtClean="0">
                          <a:solidFill>
                            <a:schemeClr val="tx1"/>
                          </a:solidFill>
                          <a:effectLst/>
                          <a:latin typeface="Times New Roman" panose="02020603050405020304" pitchFamily="18" charset="0"/>
                          <a:ea typeface="+mn-ea"/>
                          <a:cs typeface="Times New Roman" panose="02020603050405020304" pitchFamily="18" charset="0"/>
                        </a:rPr>
                        <a:t>This paper proposes a hybrid framework combining deep learning techniques and Monte Carlo Tree Search for ransomware detection. </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1"/>
                  </a:ext>
                </a:extLst>
              </a:tr>
              <a:tr h="1500897">
                <a:tc>
                  <a:txBody>
                    <a:bodyPr/>
                    <a:lstStyle/>
                    <a:p>
                      <a:pPr algn="just"/>
                      <a:r>
                        <a:rPr lang="en-US" sz="1100" dirty="0" smtClean="0">
                          <a:solidFill>
                            <a:schemeClr val="tx1"/>
                          </a:solidFill>
                          <a:latin typeface="Times New Roman" panose="02020603050405020304" pitchFamily="18" charset="0"/>
                          <a:cs typeface="Times New Roman" panose="02020603050405020304" pitchFamily="18" charset="0"/>
                        </a:rPr>
                        <a:t>2</a:t>
                      </a:r>
                      <a:endParaRPr lang="en-IN" sz="11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IN" sz="1350" kern="1200" dirty="0" smtClean="0">
                          <a:solidFill>
                            <a:schemeClr val="dk1"/>
                          </a:solidFill>
                          <a:effectLst/>
                          <a:latin typeface="+mn-lt"/>
                          <a:ea typeface="+mn-ea"/>
                          <a:cs typeface="+mn-cs"/>
                        </a:rPr>
                        <a:t>2024</a:t>
                      </a:r>
                      <a:endParaRPr lang="en-IN" sz="11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350" b="1" kern="1200" dirty="0" smtClean="0">
                          <a:solidFill>
                            <a:schemeClr val="tx1"/>
                          </a:solidFill>
                          <a:effectLst/>
                          <a:latin typeface="Times New Roman" panose="02020603050405020304" pitchFamily="18" charset="0"/>
                          <a:ea typeface="+mn-ea"/>
                          <a:cs typeface="Times New Roman" panose="02020603050405020304" pitchFamily="18" charset="0"/>
                        </a:rPr>
                        <a:t>S. </a:t>
                      </a:r>
                      <a:r>
                        <a:rPr lang="en-US" sz="1350" b="1" kern="1200" dirty="0" err="1" smtClean="0">
                          <a:solidFill>
                            <a:schemeClr val="tx1"/>
                          </a:solidFill>
                          <a:effectLst/>
                          <a:latin typeface="Times New Roman" panose="02020603050405020304" pitchFamily="18" charset="0"/>
                          <a:ea typeface="+mn-ea"/>
                          <a:cs typeface="Times New Roman" panose="02020603050405020304" pitchFamily="18" charset="0"/>
                        </a:rPr>
                        <a:t>Wasoye</a:t>
                      </a:r>
                      <a:r>
                        <a:rPr lang="en-US" sz="1350" b="1" kern="1200" dirty="0" smtClean="0">
                          <a:solidFill>
                            <a:schemeClr val="tx1"/>
                          </a:solidFill>
                          <a:effectLst/>
                          <a:latin typeface="Times New Roman" panose="02020603050405020304" pitchFamily="18" charset="0"/>
                          <a:ea typeface="+mn-ea"/>
                          <a:cs typeface="Times New Roman" panose="02020603050405020304" pitchFamily="18" charset="0"/>
                        </a:rPr>
                        <a:t>, M. Stevens, C. Morgan, D. Hughes, and J. Walker</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Ransomware Classification Using BTLS Algorithm and Machine Learning Approaches</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kern="1200" dirty="0" smtClean="0">
                          <a:solidFill>
                            <a:schemeClr val="tx1"/>
                          </a:solidFill>
                          <a:effectLst/>
                          <a:latin typeface="Times New Roman" panose="02020603050405020304" pitchFamily="18" charset="0"/>
                          <a:ea typeface="+mn-ea"/>
                          <a:cs typeface="Times New Roman" panose="02020603050405020304" pitchFamily="18" charset="0"/>
                        </a:rPr>
                        <a:t>This study explores the use of the BTLS algorithm in conjunction with machine learning models for ransomware classification.</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791414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429913864"/>
              </p:ext>
            </p:extLst>
          </p:nvPr>
        </p:nvGraphicFramePr>
        <p:xfrm>
          <a:off x="1069675" y="666950"/>
          <a:ext cx="7403276" cy="3694689"/>
        </p:xfrm>
        <a:graphic>
          <a:graphicData uri="http://schemas.openxmlformats.org/drawingml/2006/table">
            <a:tbl>
              <a:tblPr firstRow="1" bandRow="1">
                <a:tableStyleId>{5C22544A-7EE6-4342-B048-85BDC9FD1C3A}</a:tableStyleId>
              </a:tblPr>
              <a:tblGrid>
                <a:gridCol w="405496">
                  <a:extLst>
                    <a:ext uri="{9D8B030D-6E8A-4147-A177-3AD203B41FA5}">
                      <a16:colId xmlns:a16="http://schemas.microsoft.com/office/drawing/2014/main" val="20000"/>
                    </a:ext>
                  </a:extLst>
                </a:gridCol>
                <a:gridCol w="937826">
                  <a:extLst>
                    <a:ext uri="{9D8B030D-6E8A-4147-A177-3AD203B41FA5}">
                      <a16:colId xmlns:a16="http://schemas.microsoft.com/office/drawing/2014/main" val="20001"/>
                    </a:ext>
                  </a:extLst>
                </a:gridCol>
                <a:gridCol w="1367934">
                  <a:extLst>
                    <a:ext uri="{9D8B030D-6E8A-4147-A177-3AD203B41FA5}">
                      <a16:colId xmlns:a16="http://schemas.microsoft.com/office/drawing/2014/main" val="20002"/>
                    </a:ext>
                  </a:extLst>
                </a:gridCol>
                <a:gridCol w="1496169">
                  <a:extLst>
                    <a:ext uri="{9D8B030D-6E8A-4147-A177-3AD203B41FA5}">
                      <a16:colId xmlns:a16="http://schemas.microsoft.com/office/drawing/2014/main" val="20003"/>
                    </a:ext>
                  </a:extLst>
                </a:gridCol>
                <a:gridCol w="3195851">
                  <a:extLst>
                    <a:ext uri="{9D8B030D-6E8A-4147-A177-3AD203B41FA5}">
                      <a16:colId xmlns:a16="http://schemas.microsoft.com/office/drawing/2014/main" val="20004"/>
                    </a:ext>
                  </a:extLst>
                </a:gridCol>
              </a:tblGrid>
              <a:tr h="278130">
                <a:tc>
                  <a:txBody>
                    <a:bodyPr/>
                    <a:lstStyle/>
                    <a:p>
                      <a:r>
                        <a:rPr lang="en-US" sz="1100" dirty="0">
                          <a:solidFill>
                            <a:schemeClr val="tx1"/>
                          </a:solidFill>
                          <a:latin typeface="Times New Roman" panose="02020603050405020304" pitchFamily="18" charset="0"/>
                          <a:cs typeface="Times New Roman" panose="02020603050405020304" pitchFamily="18" charset="0"/>
                        </a:rPr>
                        <a:t>S.NO</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YEAR</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AUTHORS</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TITLE</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OUT COMES</a:t>
                      </a:r>
                    </a:p>
                  </a:txBody>
                  <a:tcPr marL="68580" marR="68580" marT="34290" marB="34290">
                    <a:solidFill>
                      <a:schemeClr val="accent3"/>
                    </a:solidFill>
                  </a:tcPr>
                </a:tc>
                <a:extLst>
                  <a:ext uri="{0D108BD9-81ED-4DB2-BD59-A6C34878D82A}">
                    <a16:rowId xmlns:a16="http://schemas.microsoft.com/office/drawing/2014/main" val="10000"/>
                  </a:ext>
                </a:extLst>
              </a:tr>
              <a:tr h="1759209">
                <a:tc>
                  <a:txBody>
                    <a:bodyPr/>
                    <a:lstStyle/>
                    <a:p>
                      <a:pPr algn="just"/>
                      <a:r>
                        <a:rPr lang="en-US" sz="1100" dirty="0">
                          <a:latin typeface="Times New Roman" panose="02020603050405020304" pitchFamily="18" charset="0"/>
                          <a:cs typeface="Times New Roman" panose="02020603050405020304" pitchFamily="18" charset="0"/>
                        </a:rPr>
                        <a:t>3</a:t>
                      </a:r>
                      <a:endParaRPr lang="en-IN" sz="1100" dirty="0">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IN" sz="1350" kern="1200" dirty="0" smtClean="0">
                          <a:solidFill>
                            <a:schemeClr val="dk1"/>
                          </a:solidFill>
                          <a:effectLst/>
                          <a:latin typeface="+mn-lt"/>
                          <a:ea typeface="+mn-ea"/>
                          <a:cs typeface="+mn-cs"/>
                        </a:rPr>
                        <a:t>2024</a:t>
                      </a:r>
                      <a:endParaRPr lang="en-IN" sz="12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pt-BR" sz="1200" b="0" kern="1200" dirty="0" smtClean="0">
                          <a:solidFill>
                            <a:schemeClr val="tx1"/>
                          </a:solidFill>
                          <a:effectLst/>
                          <a:latin typeface="Times New Roman" panose="02020603050405020304" pitchFamily="18" charset="0"/>
                          <a:ea typeface="+mn-ea"/>
                          <a:cs typeface="Times New Roman" panose="02020603050405020304" pitchFamily="18" charset="0"/>
                        </a:rPr>
                        <a:t>J. Kirkland, R. Stoddard, B. Antonov, N. Dragomirov, and A. Belmonte</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Automated Detection of Crypto Ransomware Using Machine Learning and File Entropy Analysis</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kern="1200" dirty="0" smtClean="0">
                          <a:solidFill>
                            <a:schemeClr val="tx1"/>
                          </a:solidFill>
                          <a:effectLst/>
                          <a:latin typeface="Times New Roman" panose="02020603050405020304" pitchFamily="18" charset="0"/>
                          <a:ea typeface="+mn-ea"/>
                          <a:cs typeface="Times New Roman" panose="02020603050405020304" pitchFamily="18" charset="0"/>
                        </a:rPr>
                        <a:t>This research focuses on the automated detection of crypto ransomware through machine learning models and file entropy analysis. </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1"/>
                  </a:ext>
                </a:extLst>
              </a:tr>
              <a:tr h="1531620">
                <a:tc>
                  <a:txBody>
                    <a:bodyPr/>
                    <a:lstStyle/>
                    <a:p>
                      <a:pPr algn="just"/>
                      <a:r>
                        <a:rPr lang="en-US" sz="1100">
                          <a:latin typeface="Times New Roman" panose="02020603050405020304" pitchFamily="18" charset="0"/>
                          <a:cs typeface="Times New Roman" panose="02020603050405020304" pitchFamily="18" charset="0"/>
                        </a:rPr>
                        <a:t>4</a:t>
                      </a:r>
                      <a:endParaRPr lang="en-IN" sz="1100" dirty="0">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effectLst/>
                          <a:latin typeface="Times New Roman" panose="02020603050405020304" pitchFamily="18" charset="0"/>
                          <a:ea typeface="+mn-ea"/>
                          <a:cs typeface="Times New Roman" panose="02020603050405020304" pitchFamily="18" charset="0"/>
                        </a:rPr>
                        <a:t>2024</a:t>
                      </a:r>
                      <a:endParaRPr lang="en-IN" sz="12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IN" sz="1350" kern="1200" dirty="0" smtClean="0">
                          <a:solidFill>
                            <a:schemeClr val="dk1"/>
                          </a:solidFill>
                          <a:effectLst/>
                          <a:latin typeface="+mn-lt"/>
                          <a:ea typeface="+mn-ea"/>
                          <a:cs typeface="+mn-cs"/>
                        </a:rPr>
                        <a:t>M. </a:t>
                      </a:r>
                      <a:r>
                        <a:rPr lang="en-IN" sz="1350" kern="1200" dirty="0" err="1" smtClean="0">
                          <a:solidFill>
                            <a:schemeClr val="dk1"/>
                          </a:solidFill>
                          <a:effectLst/>
                          <a:latin typeface="+mn-lt"/>
                          <a:ea typeface="+mn-ea"/>
                          <a:cs typeface="+mn-cs"/>
                        </a:rPr>
                        <a:t>Ozturk</a:t>
                      </a:r>
                      <a:r>
                        <a:rPr lang="en-IN" sz="1350" kern="1200" dirty="0" smtClean="0">
                          <a:solidFill>
                            <a:schemeClr val="dk1"/>
                          </a:solidFill>
                          <a:effectLst/>
                          <a:latin typeface="+mn-lt"/>
                          <a:ea typeface="+mn-ea"/>
                          <a:cs typeface="+mn-cs"/>
                        </a:rPr>
                        <a:t>, A. </a:t>
                      </a:r>
                      <a:r>
                        <a:rPr lang="en-IN" sz="1350" kern="1200" dirty="0" err="1" smtClean="0">
                          <a:solidFill>
                            <a:schemeClr val="dk1"/>
                          </a:solidFill>
                          <a:effectLst/>
                          <a:latin typeface="+mn-lt"/>
                          <a:ea typeface="+mn-ea"/>
                          <a:cs typeface="+mn-cs"/>
                        </a:rPr>
                        <a:t>Demir</a:t>
                      </a:r>
                      <a:r>
                        <a:rPr lang="en-IN" sz="1350" kern="1200" dirty="0" smtClean="0">
                          <a:solidFill>
                            <a:schemeClr val="dk1"/>
                          </a:solidFill>
                          <a:effectLst/>
                          <a:latin typeface="+mn-lt"/>
                          <a:ea typeface="+mn-ea"/>
                          <a:cs typeface="+mn-cs"/>
                        </a:rPr>
                        <a:t>, Z. </a:t>
                      </a:r>
                      <a:r>
                        <a:rPr lang="en-IN" sz="1350" kern="1200" dirty="0" err="1" smtClean="0">
                          <a:solidFill>
                            <a:schemeClr val="dk1"/>
                          </a:solidFill>
                          <a:effectLst/>
                          <a:latin typeface="+mn-lt"/>
                          <a:ea typeface="+mn-ea"/>
                          <a:cs typeface="+mn-cs"/>
                        </a:rPr>
                        <a:t>Arslan</a:t>
                      </a:r>
                      <a:r>
                        <a:rPr lang="en-IN" sz="1350" kern="1200" dirty="0" smtClean="0">
                          <a:solidFill>
                            <a:schemeClr val="dk1"/>
                          </a:solidFill>
                          <a:effectLst/>
                          <a:latin typeface="+mn-lt"/>
                          <a:ea typeface="+mn-ea"/>
                          <a:cs typeface="+mn-cs"/>
                        </a:rPr>
                        <a:t>, and O. </a:t>
                      </a:r>
                      <a:r>
                        <a:rPr lang="en-IN" sz="1350" kern="1200" dirty="0" err="1" smtClean="0">
                          <a:solidFill>
                            <a:schemeClr val="dk1"/>
                          </a:solidFill>
                          <a:effectLst/>
                          <a:latin typeface="+mn-lt"/>
                          <a:ea typeface="+mn-ea"/>
                          <a:cs typeface="+mn-cs"/>
                        </a:rPr>
                        <a:t>Caliskan</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Dynamic </a:t>
                      </a:r>
                      <a:r>
                        <a:rPr lang="en-US" sz="1200" b="0" kern="1200" dirty="0" err="1" smtClean="0">
                          <a:solidFill>
                            <a:schemeClr val="tx1"/>
                          </a:solidFill>
                          <a:effectLst/>
                          <a:latin typeface="Times New Roman" panose="02020603050405020304" pitchFamily="18" charset="0"/>
                          <a:ea typeface="+mn-ea"/>
                          <a:cs typeface="Times New Roman" panose="02020603050405020304" pitchFamily="18" charset="0"/>
                        </a:rPr>
                        <a:t>Behavioural</a:t>
                      </a:r>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 Analysis of Privacy-Breaching and Data Theft Ransomware</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IN" sz="1350" kern="1200" dirty="0" smtClean="0">
                          <a:solidFill>
                            <a:schemeClr val="dk1"/>
                          </a:solidFill>
                          <a:effectLst/>
                          <a:latin typeface="+mn-lt"/>
                          <a:ea typeface="+mn-ea"/>
                          <a:cs typeface="+mn-cs"/>
                        </a:rPr>
                        <a:t>This paper presents a dynamic </a:t>
                      </a:r>
                      <a:r>
                        <a:rPr lang="en-IN" sz="1350" kern="1200" dirty="0" err="1" smtClean="0">
                          <a:solidFill>
                            <a:schemeClr val="dk1"/>
                          </a:solidFill>
                          <a:effectLst/>
                          <a:latin typeface="+mn-lt"/>
                          <a:ea typeface="+mn-ea"/>
                          <a:cs typeface="+mn-cs"/>
                        </a:rPr>
                        <a:t>behavioral</a:t>
                      </a:r>
                      <a:r>
                        <a:rPr lang="en-IN" sz="1350" kern="1200" dirty="0" smtClean="0">
                          <a:solidFill>
                            <a:schemeClr val="dk1"/>
                          </a:solidFill>
                          <a:effectLst/>
                          <a:latin typeface="+mn-lt"/>
                          <a:ea typeface="+mn-ea"/>
                          <a:cs typeface="+mn-cs"/>
                        </a:rPr>
                        <a:t> analysis framework targeting ransomware involved in privacy breaches and data theft. </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128102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636486305"/>
              </p:ext>
            </p:extLst>
          </p:nvPr>
        </p:nvGraphicFramePr>
        <p:xfrm>
          <a:off x="837367" y="1366047"/>
          <a:ext cx="7455295" cy="1909645"/>
        </p:xfrm>
        <a:graphic>
          <a:graphicData uri="http://schemas.openxmlformats.org/drawingml/2006/table">
            <a:tbl>
              <a:tblPr firstRow="1" bandRow="1">
                <a:tableStyleId>{5C22544A-7EE6-4342-B048-85BDC9FD1C3A}</a:tableStyleId>
              </a:tblPr>
              <a:tblGrid>
                <a:gridCol w="578086">
                  <a:extLst>
                    <a:ext uri="{9D8B030D-6E8A-4147-A177-3AD203B41FA5}">
                      <a16:colId xmlns:a16="http://schemas.microsoft.com/office/drawing/2014/main" val="20000"/>
                    </a:ext>
                  </a:extLst>
                </a:gridCol>
                <a:gridCol w="921667">
                  <a:extLst>
                    <a:ext uri="{9D8B030D-6E8A-4147-A177-3AD203B41FA5}">
                      <a16:colId xmlns:a16="http://schemas.microsoft.com/office/drawing/2014/main" val="20001"/>
                    </a:ext>
                  </a:extLst>
                </a:gridCol>
                <a:gridCol w="1344365">
                  <a:extLst>
                    <a:ext uri="{9D8B030D-6E8A-4147-A177-3AD203B41FA5}">
                      <a16:colId xmlns:a16="http://schemas.microsoft.com/office/drawing/2014/main" val="20002"/>
                    </a:ext>
                  </a:extLst>
                </a:gridCol>
                <a:gridCol w="1470390">
                  <a:extLst>
                    <a:ext uri="{9D8B030D-6E8A-4147-A177-3AD203B41FA5}">
                      <a16:colId xmlns:a16="http://schemas.microsoft.com/office/drawing/2014/main" val="20003"/>
                    </a:ext>
                  </a:extLst>
                </a:gridCol>
                <a:gridCol w="3140787">
                  <a:extLst>
                    <a:ext uri="{9D8B030D-6E8A-4147-A177-3AD203B41FA5}">
                      <a16:colId xmlns:a16="http://schemas.microsoft.com/office/drawing/2014/main" val="20004"/>
                    </a:ext>
                  </a:extLst>
                </a:gridCol>
              </a:tblGrid>
              <a:tr h="361153">
                <a:tc>
                  <a:txBody>
                    <a:bodyPr/>
                    <a:lstStyle/>
                    <a:p>
                      <a:r>
                        <a:rPr lang="en-US" sz="1100" dirty="0">
                          <a:solidFill>
                            <a:schemeClr val="tx1"/>
                          </a:solidFill>
                          <a:latin typeface="Times New Roman" panose="02020603050405020304" pitchFamily="18" charset="0"/>
                          <a:cs typeface="Times New Roman" panose="02020603050405020304" pitchFamily="18" charset="0"/>
                        </a:rPr>
                        <a:t>S.NO</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YEAR</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AUTHORS</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TITLE</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OUT COMES</a:t>
                      </a:r>
                    </a:p>
                  </a:txBody>
                  <a:tcPr marL="68580" marR="68580" marT="34290" marB="34290">
                    <a:solidFill>
                      <a:schemeClr val="accent3"/>
                    </a:solidFill>
                  </a:tcPr>
                </a:tc>
                <a:extLst>
                  <a:ext uri="{0D108BD9-81ED-4DB2-BD59-A6C34878D82A}">
                    <a16:rowId xmlns:a16="http://schemas.microsoft.com/office/drawing/2014/main" val="10000"/>
                  </a:ext>
                </a:extLst>
              </a:tr>
              <a:tr h="1548492">
                <a:tc>
                  <a:txBody>
                    <a:bodyPr/>
                    <a:lstStyle/>
                    <a:p>
                      <a:pPr algn="just"/>
                      <a:r>
                        <a:rPr lang="en-US" sz="1100" dirty="0" smtClean="0">
                          <a:latin typeface="Times New Roman" panose="02020603050405020304" pitchFamily="18" charset="0"/>
                          <a:cs typeface="Times New Roman" panose="02020603050405020304" pitchFamily="18" charset="0"/>
                        </a:rPr>
                        <a:t>5</a:t>
                      </a:r>
                      <a:endParaRPr lang="en-IN" sz="1100" dirty="0">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2023</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IN" sz="1350" kern="1200" dirty="0" smtClean="0">
                          <a:solidFill>
                            <a:schemeClr val="dk1"/>
                          </a:solidFill>
                          <a:effectLst/>
                          <a:latin typeface="+mn-lt"/>
                          <a:ea typeface="+mn-ea"/>
                          <a:cs typeface="+mn-cs"/>
                        </a:rPr>
                        <a:t>T. Kumamoto, Y. Yoshida, and H. </a:t>
                      </a:r>
                      <a:r>
                        <a:rPr lang="en-IN" sz="1350" kern="1200" dirty="0" err="1" smtClean="0">
                          <a:solidFill>
                            <a:schemeClr val="dk1"/>
                          </a:solidFill>
                          <a:effectLst/>
                          <a:latin typeface="+mn-lt"/>
                          <a:ea typeface="+mn-ea"/>
                          <a:cs typeface="+mn-cs"/>
                        </a:rPr>
                        <a:t>Fujima</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Evaluating Large Language Models in Ransomware Negotiation: A Comparative Analysis of </a:t>
                      </a:r>
                      <a:r>
                        <a:rPr lang="en-US" sz="1200" b="0" kern="1200" dirty="0" err="1" smtClean="0">
                          <a:solidFill>
                            <a:schemeClr val="tx1"/>
                          </a:solidFill>
                          <a:effectLst/>
                          <a:latin typeface="Times New Roman" panose="02020603050405020304" pitchFamily="18" charset="0"/>
                          <a:ea typeface="+mn-ea"/>
                          <a:cs typeface="Times New Roman" panose="02020603050405020304" pitchFamily="18" charset="0"/>
                        </a:rPr>
                        <a:t>ChatGPT</a:t>
                      </a:r>
                      <a:r>
                        <a:rPr lang="en-US" sz="1200" b="0" kern="1200" dirty="0" smtClean="0">
                          <a:solidFill>
                            <a:schemeClr val="tx1"/>
                          </a:solidFill>
                          <a:effectLst/>
                          <a:latin typeface="Times New Roman" panose="02020603050405020304" pitchFamily="18" charset="0"/>
                          <a:ea typeface="+mn-ea"/>
                          <a:cs typeface="Times New Roman" panose="02020603050405020304" pitchFamily="18" charset="0"/>
                        </a:rPr>
                        <a:t> and Claude</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kern="1200" dirty="0" smtClean="0">
                          <a:solidFill>
                            <a:schemeClr val="tx1"/>
                          </a:solidFill>
                          <a:effectLst/>
                          <a:latin typeface="Times New Roman" panose="02020603050405020304" pitchFamily="18" charset="0"/>
                          <a:ea typeface="+mn-ea"/>
                          <a:cs typeface="Times New Roman" panose="02020603050405020304" pitchFamily="18" charset="0"/>
                        </a:rPr>
                        <a:t>This study examines the application of large language models like </a:t>
                      </a:r>
                      <a:r>
                        <a:rPr lang="en-US" sz="1200" kern="1200" dirty="0" err="1" smtClean="0">
                          <a:solidFill>
                            <a:schemeClr val="tx1"/>
                          </a:solidFill>
                          <a:effectLst/>
                          <a:latin typeface="Times New Roman" panose="02020603050405020304" pitchFamily="18" charset="0"/>
                          <a:ea typeface="+mn-ea"/>
                          <a:cs typeface="Times New Roman" panose="02020603050405020304" pitchFamily="18" charset="0"/>
                        </a:rPr>
                        <a:t>ChatGPT</a:t>
                      </a:r>
                      <a:r>
                        <a:rPr lang="en-US" sz="1200" kern="1200" dirty="0" smtClean="0">
                          <a:solidFill>
                            <a:schemeClr val="tx1"/>
                          </a:solidFill>
                          <a:effectLst/>
                          <a:latin typeface="Times New Roman" panose="02020603050405020304" pitchFamily="18" charset="0"/>
                          <a:ea typeface="+mn-ea"/>
                          <a:cs typeface="Times New Roman" panose="02020603050405020304" pitchFamily="18" charset="0"/>
                        </a:rPr>
                        <a:t> and Claude in ransomware negotiations</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125437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3" name="Rectangle 2"/>
          <p:cNvSpPr/>
          <p:nvPr/>
        </p:nvSpPr>
        <p:spPr>
          <a:xfrm>
            <a:off x="3898174" y="224746"/>
            <a:ext cx="1415385" cy="507831"/>
          </a:xfrm>
          <a:prstGeom prst="rect">
            <a:avLst/>
          </a:prstGeom>
        </p:spPr>
        <p:txBody>
          <a:bodyPr wrap="square">
            <a:spAutoFit/>
          </a:bodyPr>
          <a:lstStyle/>
          <a:p>
            <a:pPr lvl="0" algn="ctr"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Significant </a:t>
            </a:r>
          </a:p>
        </p:txBody>
      </p:sp>
      <p:sp>
        <p:nvSpPr>
          <p:cNvPr id="2" name="Rectangle 1"/>
          <p:cNvSpPr>
            <a:spLocks noChangeArrowheads="1"/>
          </p:cNvSpPr>
          <p:nvPr/>
        </p:nvSpPr>
        <p:spPr bwMode="auto">
          <a:xfrm>
            <a:off x="609597" y="533380"/>
            <a:ext cx="825835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increasing frequency and sophistication of ransomware attacks highlight the limitations of traditional detection systems, which often rely on signature-based methods that struggle to identify emerging threats. This paper presents an innovative framework aimed at overcoming these limitations by focusing on adaptive monitoring for early-stage ransomware detection. The approach combines two key components: behavioral analysis and network traffic examination. By monitoring system behaviors—such as file access patterns, encryption activities, and unauthorized data movements—alongside network traffic anomalies like large data transfers or encrypted communications, the framework is able to identify early indicators of ransomware activity.</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One of the key strengths of this method is its adaptive nature, which allows the system to evolve based on new data. This continuous learning process enhances the detection capabilities of the system, making it resilient to new and evolving ransomware tactics, while minimizing the occurrence of false positives. Through the integration of machine learning algorithms and real-time monitoring, the framework offers a comprehensive multi-layered approach to threat detection.</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Experimental results demonstrate that this adaptive monitoring system significantly reduces the response time for identifying ransomware and enables proactive measures, such as isolating infected systems to limit the spread of the attack. This not only minimizes damage but also contributes to an overall more robust cybersecurity posture for organizations. The findings underscore the importance of combining behavioral and network traffic analysis in developing advanced defenses against increasingly sophisticated ransomware threats.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38190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05182" y="231911"/>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1800" b="1" dirty="0" smtClean="0">
                <a:solidFill>
                  <a:schemeClr val="tx1"/>
                </a:solidFill>
                <a:latin typeface="Times New Roman" panose="02020603050405020304" pitchFamily="18" charset="0"/>
                <a:cs typeface="Times New Roman" panose="02020603050405020304" pitchFamily="18" charset="0"/>
              </a:rPr>
              <a:t>Proposed System</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524932" y="456703"/>
            <a:ext cx="8009467" cy="4524315"/>
          </a:xfrm>
          <a:prstGeom prst="rect">
            <a:avLst/>
          </a:prstGeom>
        </p:spPr>
        <p:txBody>
          <a:bodyPr wrap="square">
            <a:spAutoFit/>
          </a:bodyPr>
          <a:lstStyle/>
          <a:p>
            <a:pPr algn="just">
              <a:lnSpc>
                <a:spcPct val="200000"/>
              </a:lnSpc>
            </a:pPr>
            <a:r>
              <a:rPr lang="en-IN" sz="1200" dirty="0">
                <a:latin typeface="Times New Roman" panose="02020603050405020304" pitchFamily="18" charset="0"/>
                <a:cs typeface="Times New Roman" panose="02020603050405020304" pitchFamily="18" charset="0"/>
              </a:rPr>
              <a:t>The proposed system leverages adaptive monitoring for early-stage ransomware detection by integrating </a:t>
            </a:r>
            <a:r>
              <a:rPr lang="en-IN" sz="1200" dirty="0" err="1">
                <a:latin typeface="Times New Roman" panose="02020603050405020304" pitchFamily="18" charset="0"/>
                <a:cs typeface="Times New Roman" panose="02020603050405020304" pitchFamily="18" charset="0"/>
              </a:rPr>
              <a:t>behavioral</a:t>
            </a:r>
            <a:r>
              <a:rPr lang="en-IN" sz="1200" dirty="0">
                <a:latin typeface="Times New Roman" panose="02020603050405020304" pitchFamily="18" charset="0"/>
                <a:cs typeface="Times New Roman" panose="02020603050405020304" pitchFamily="18" charset="0"/>
              </a:rPr>
              <a:t> analysis and network traffic analysis. Utilizing machine </a:t>
            </a:r>
            <a:r>
              <a:rPr lang="en-IN" sz="1200" dirty="0" err="1">
                <a:latin typeface="Times New Roman" panose="02020603050405020304" pitchFamily="18" charset="0"/>
                <a:cs typeface="Times New Roman" panose="02020603050405020304" pitchFamily="18" charset="0"/>
              </a:rPr>
              <a:t>learningalgorithms</a:t>
            </a:r>
            <a:r>
              <a:rPr lang="en-IN" sz="1200" dirty="0">
                <a:latin typeface="Times New Roman" panose="02020603050405020304" pitchFamily="18" charset="0"/>
                <a:cs typeface="Times New Roman" panose="02020603050405020304" pitchFamily="18" charset="0"/>
              </a:rPr>
              <a:t>, the system dynamically identifies patterns in file access, encryption activities, and data movement that deviate from standard operations, flagging suspicious </a:t>
            </a:r>
            <a:r>
              <a:rPr lang="en-IN" sz="1200" dirty="0" err="1">
                <a:latin typeface="Times New Roman" panose="02020603050405020304" pitchFamily="18" charset="0"/>
                <a:cs typeface="Times New Roman" panose="02020603050405020304" pitchFamily="18" charset="0"/>
              </a:rPr>
              <a:t>behaviors</a:t>
            </a:r>
            <a:r>
              <a:rPr lang="en-IN" sz="1200" dirty="0">
                <a:latin typeface="Times New Roman" panose="02020603050405020304" pitchFamily="18" charset="0"/>
                <a:cs typeface="Times New Roman" panose="02020603050405020304" pitchFamily="18" charset="0"/>
              </a:rPr>
              <a:t> indicative of ransomware. Concurrently, the system monitors network traffic for anomalies such as unauthorized data transfers, abnormal encrypted connections, and excessive data requests, which may signal early ransomware </a:t>
            </a:r>
            <a:r>
              <a:rPr lang="en-IN" sz="1200" dirty="0" err="1">
                <a:latin typeface="Times New Roman" panose="02020603050405020304" pitchFamily="18" charset="0"/>
                <a:cs typeface="Times New Roman" panose="02020603050405020304" pitchFamily="18" charset="0"/>
              </a:rPr>
              <a:t>activities.A</a:t>
            </a:r>
            <a:r>
              <a:rPr lang="en-IN" sz="1200" dirty="0">
                <a:latin typeface="Times New Roman" panose="02020603050405020304" pitchFamily="18" charset="0"/>
                <a:cs typeface="Times New Roman" panose="02020603050405020304" pitchFamily="18" charset="0"/>
              </a:rPr>
              <a:t> multi-layered approach combines these analyses, creating a robust </a:t>
            </a:r>
            <a:r>
              <a:rPr lang="en-IN" sz="1200" dirty="0" err="1">
                <a:latin typeface="Times New Roman" panose="02020603050405020304" pitchFamily="18" charset="0"/>
                <a:cs typeface="Times New Roman" panose="02020603050405020304" pitchFamily="18" charset="0"/>
              </a:rPr>
              <a:t>defense</a:t>
            </a:r>
            <a:r>
              <a:rPr lang="en-IN" sz="1200" dirty="0">
                <a:latin typeface="Times New Roman" panose="02020603050405020304" pitchFamily="18" charset="0"/>
                <a:cs typeface="Times New Roman" panose="02020603050405020304" pitchFamily="18" charset="0"/>
              </a:rPr>
              <a:t> mechanism that captures the complexity of ransomware </a:t>
            </a:r>
            <a:r>
              <a:rPr lang="en-IN" sz="1200" dirty="0" err="1">
                <a:latin typeface="Times New Roman" panose="02020603050405020304" pitchFamily="18" charset="0"/>
                <a:cs typeface="Times New Roman" panose="02020603050405020304" pitchFamily="18" charset="0"/>
              </a:rPr>
              <a:t>behavior</a:t>
            </a:r>
            <a:r>
              <a:rPr lang="en-IN" sz="1200" dirty="0">
                <a:latin typeface="Times New Roman" panose="02020603050405020304" pitchFamily="18" charset="0"/>
                <a:cs typeface="Times New Roman" panose="02020603050405020304" pitchFamily="18" charset="0"/>
              </a:rPr>
              <a:t>. The machine learning models continuously adapt by learning from new data, enhancing detection accuracy and ensuring resilience against evolving ransomware tactics. Upon detecting suspicious activity, the system triggers automated responses, such as alerting administrators, isolating potentially affected endpoints, or restricting network access, to minimize </a:t>
            </a:r>
            <a:r>
              <a:rPr lang="en-IN" sz="1200" dirty="0" err="1">
                <a:latin typeface="Times New Roman" panose="02020603050405020304" pitchFamily="18" charset="0"/>
                <a:cs typeface="Times New Roman" panose="02020603050405020304" pitchFamily="18" charset="0"/>
              </a:rPr>
              <a:t>damage.The</a:t>
            </a:r>
            <a:r>
              <a:rPr lang="en-IN" sz="1200" dirty="0">
                <a:latin typeface="Times New Roman" panose="02020603050405020304" pitchFamily="18" charset="0"/>
                <a:cs typeface="Times New Roman" panose="02020603050405020304" pitchFamily="18" charset="0"/>
              </a:rPr>
              <a:t> system’s architecture ensures low latency, enabling real-time monitoring and early alerts to stop ransomware in its initial stages. Experimental evaluations indicate high accuracy and low false positive rates, underscoring its potential to significantly improve organizational resilience against ransomware. </a:t>
            </a:r>
          </a:p>
        </p:txBody>
      </p:sp>
    </p:spTree>
    <p:extLst>
      <p:ext uri="{BB962C8B-B14F-4D97-AF65-F5344CB8AC3E}">
        <p14:creationId xmlns:p14="http://schemas.microsoft.com/office/powerpoint/2010/main" val="22444955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65827" y="258793"/>
            <a:ext cx="8057072" cy="4616648"/>
          </a:xfrm>
          <a:prstGeom prst="rect">
            <a:avLst/>
          </a:prstGeom>
        </p:spPr>
        <p:txBody>
          <a:bodyPr wrap="square">
            <a:spAutoFit/>
          </a:bodyPr>
          <a:lstStyle/>
          <a:p>
            <a:pPr algn="just">
              <a:lnSpc>
                <a:spcPct val="200000"/>
              </a:lnSpc>
            </a:pPr>
            <a:r>
              <a:rPr lang="en-US" sz="1200" b="1" dirty="0">
                <a:latin typeface="Times New Roman" panose="02020603050405020304" pitchFamily="18" charset="0"/>
                <a:cs typeface="Times New Roman" panose="02020603050405020304" pitchFamily="18" charset="0"/>
              </a:rPr>
              <a:t>Advantages</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Early Detection:</a:t>
            </a:r>
            <a:r>
              <a:rPr lang="en-IN" sz="1200" dirty="0">
                <a:latin typeface="Times New Roman" panose="02020603050405020304" pitchFamily="18" charset="0"/>
                <a:cs typeface="Times New Roman" panose="02020603050405020304" pitchFamily="18" charset="0"/>
              </a:rPr>
              <a:t> The system identifies ransomware at an early stage by detecting suspicious </a:t>
            </a:r>
            <a:r>
              <a:rPr lang="en-IN" sz="1200" dirty="0" err="1">
                <a:latin typeface="Times New Roman" panose="02020603050405020304" pitchFamily="18" charset="0"/>
                <a:cs typeface="Times New Roman" panose="02020603050405020304" pitchFamily="18" charset="0"/>
              </a:rPr>
              <a:t>behavioral</a:t>
            </a:r>
            <a:r>
              <a:rPr lang="en-IN" sz="1200" dirty="0">
                <a:latin typeface="Times New Roman" panose="02020603050405020304" pitchFamily="18" charset="0"/>
                <a:cs typeface="Times New Roman" panose="02020603050405020304" pitchFamily="18" charset="0"/>
              </a:rPr>
              <a:t> and network anomalies, allowing </a:t>
            </a:r>
            <a:r>
              <a:rPr lang="en-IN" sz="1200" dirty="0" err="1">
                <a:latin typeface="Times New Roman" panose="02020603050405020304" pitchFamily="18" charset="0"/>
                <a:cs typeface="Times New Roman" panose="02020603050405020304" pitchFamily="18" charset="0"/>
              </a:rPr>
              <a:t>preemptive</a:t>
            </a:r>
            <a:r>
              <a:rPr lang="en-IN" sz="1200" dirty="0">
                <a:latin typeface="Times New Roman" panose="02020603050405020304" pitchFamily="18" charset="0"/>
                <a:cs typeface="Times New Roman" panose="02020603050405020304" pitchFamily="18" charset="0"/>
              </a:rPr>
              <a:t> actions before significant damage occurs.</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Adaptive Learning:</a:t>
            </a:r>
            <a:r>
              <a:rPr lang="en-IN" sz="1200" dirty="0">
                <a:latin typeface="Times New Roman" panose="02020603050405020304" pitchFamily="18" charset="0"/>
                <a:cs typeface="Times New Roman" panose="02020603050405020304" pitchFamily="18" charset="0"/>
              </a:rPr>
              <a:t> By using machine learning algorithms that continuously learn from new data, the system adapts to emerging ransomware variants, making it resilient against new and evolving threats.</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Real-Time Monitoring:</a:t>
            </a:r>
            <a:r>
              <a:rPr lang="en-IN" sz="1200" dirty="0">
                <a:latin typeface="Times New Roman" panose="02020603050405020304" pitchFamily="18" charset="0"/>
                <a:cs typeface="Times New Roman" panose="02020603050405020304" pitchFamily="18" charset="0"/>
              </a:rPr>
              <a:t> The low-latency design enables real-time monitoring, providing instant alerts to administrators, which is crucial for rapid response and mitigation.</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Comprehensive Analysis:</a:t>
            </a:r>
            <a:r>
              <a:rPr lang="en-IN" sz="1200" dirty="0">
                <a:latin typeface="Times New Roman" panose="02020603050405020304" pitchFamily="18" charset="0"/>
                <a:cs typeface="Times New Roman" panose="02020603050405020304" pitchFamily="18" charset="0"/>
              </a:rPr>
              <a:t> By combining </a:t>
            </a:r>
            <a:r>
              <a:rPr lang="en-IN" sz="1200" dirty="0" err="1">
                <a:latin typeface="Times New Roman" panose="02020603050405020304" pitchFamily="18" charset="0"/>
                <a:cs typeface="Times New Roman" panose="02020603050405020304" pitchFamily="18" charset="0"/>
              </a:rPr>
              <a:t>behavioral</a:t>
            </a:r>
            <a:r>
              <a:rPr lang="en-IN" sz="1200" dirty="0">
                <a:latin typeface="Times New Roman" panose="02020603050405020304" pitchFamily="18" charset="0"/>
                <a:cs typeface="Times New Roman" panose="02020603050405020304" pitchFamily="18" charset="0"/>
              </a:rPr>
              <a:t> and network traffic analysis, the system offers a multi-layered approach, enhancing accuracy and reducing the likelihood of missed detections.</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Automated Response:</a:t>
            </a:r>
            <a:r>
              <a:rPr lang="en-IN" sz="1200" dirty="0">
                <a:latin typeface="Times New Roman" panose="02020603050405020304" pitchFamily="18" charset="0"/>
                <a:cs typeface="Times New Roman" panose="02020603050405020304" pitchFamily="18" charset="0"/>
              </a:rPr>
              <a:t> The system can automatically isolate affected endpoints or restrict network access, which minimizes the spread of ransomware across the network and reduces manual intervention.</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Reduced False Positives:</a:t>
            </a:r>
            <a:r>
              <a:rPr lang="en-IN" sz="1200" dirty="0">
                <a:latin typeface="Times New Roman" panose="02020603050405020304" pitchFamily="18" charset="0"/>
                <a:cs typeface="Times New Roman" panose="02020603050405020304" pitchFamily="18" charset="0"/>
              </a:rPr>
              <a:t> Adaptive learning and multi-factor analysis help reduce false positives, ensuring that only genuine threats are flagged, which improves system efficiency and user trust.</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Enhanced Organizational Security:</a:t>
            </a:r>
            <a:r>
              <a:rPr lang="en-IN" sz="1200" dirty="0">
                <a:latin typeface="Times New Roman" panose="02020603050405020304" pitchFamily="18" charset="0"/>
                <a:cs typeface="Times New Roman" panose="02020603050405020304" pitchFamily="18" charset="0"/>
              </a:rPr>
              <a:t> With its proactive and adaptive approach, the system significantly enhances an organization's resilience against ransomware, protecting critical data and minimizing financial and operational risks.</a:t>
            </a:r>
          </a:p>
          <a:p>
            <a:pPr algn="just">
              <a:lnSpc>
                <a:spcPct val="150000"/>
              </a:lnSpc>
              <a:spcAft>
                <a:spcPts val="800"/>
              </a:spcAft>
            </a:pP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0597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036045" y="137386"/>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smtClean="0">
                <a:solidFill>
                  <a:schemeClr val="tx1"/>
                </a:solidFill>
                <a:latin typeface="Times New Roman" panose="02020603050405020304" pitchFamily="18" charset="0"/>
                <a:cs typeface="Times New Roman" panose="02020603050405020304" pitchFamily="18" charset="0"/>
              </a:rPr>
              <a:t>Architecture</a:t>
            </a:r>
            <a:endParaRPr sz="2400"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p:nvPr/>
        </p:nvPicPr>
        <p:blipFill>
          <a:blip r:embed="rId3"/>
          <a:stretch>
            <a:fillRect/>
          </a:stretch>
        </p:blipFill>
        <p:spPr>
          <a:xfrm>
            <a:off x="931653" y="845389"/>
            <a:ext cx="7418717" cy="3519577"/>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solidFill>
                  <a:schemeClr val="tx1"/>
                </a:solidFill>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Hardware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smtClean="0">
                <a:latin typeface="Times New Roman" panose="02020603050405020304" pitchFamily="18" charset="0"/>
                <a:cs typeface="Times New Roman" panose="02020603050405020304" pitchFamily="18" charset="0"/>
              </a:rPr>
              <a:t>I5/Intel Processor, </a:t>
            </a:r>
            <a:r>
              <a:rPr lang="en-IN" sz="800" b="1" dirty="0" smtClean="0">
                <a:latin typeface="Times New Roman" panose="02020603050405020304" pitchFamily="18" charset="0"/>
                <a:cs typeface="Times New Roman" panose="02020603050405020304" pitchFamily="18" charset="0"/>
              </a:rPr>
              <a:t>RAM:</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8GB (</a:t>
            </a:r>
            <a:r>
              <a:rPr lang="en-IN" sz="800" dirty="0" smtClean="0">
                <a:latin typeface="Times New Roman" panose="02020603050405020304" pitchFamily="18" charset="0"/>
                <a:cs typeface="Times New Roman" panose="02020603050405020304" pitchFamily="18" charset="0"/>
              </a:rPr>
              <a:t>min), </a:t>
            </a:r>
            <a:r>
              <a:rPr lang="en-IN" sz="800" b="1" dirty="0" smtClean="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a:t>
            </a:r>
            <a:r>
              <a:rPr lang="en-IN" sz="800" dirty="0" smtClean="0">
                <a:latin typeface="Times New Roman" panose="02020603050405020304" pitchFamily="18" charset="0"/>
                <a:cs typeface="Times New Roman" panose="02020603050405020304" pitchFamily="18" charset="0"/>
              </a:rPr>
              <a:t>GB</a:t>
            </a:r>
            <a:r>
              <a:rPr lang="en-IN" sz="800" b="1" dirty="0" smtClean="0">
                <a:latin typeface="Times New Roman" panose="02020603050405020304" pitchFamily="18" charset="0"/>
                <a:cs typeface="Times New Roman" panose="02020603050405020304" pitchFamily="18" charset="0"/>
              </a:rPr>
              <a:t>, Key Board:</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Standard Windows </a:t>
            </a:r>
            <a:r>
              <a:rPr lang="en-IN" sz="800" dirty="0" smtClean="0">
                <a:latin typeface="Times New Roman" panose="02020603050405020304" pitchFamily="18" charset="0"/>
                <a:cs typeface="Times New Roman" panose="02020603050405020304" pitchFamily="18" charset="0"/>
              </a:rPr>
              <a:t>Keyboard, </a:t>
            </a:r>
            <a:r>
              <a:rPr lang="en-IN" sz="800" b="1" dirty="0" smtClean="0">
                <a:latin typeface="Times New Roman" panose="02020603050405020304" pitchFamily="18" charset="0"/>
                <a:cs typeface="Times New Roman" panose="02020603050405020304" pitchFamily="18" charset="0"/>
              </a:rPr>
              <a:t>Mouse:</a:t>
            </a:r>
            <a:r>
              <a:rPr lang="en-IN" sz="800" dirty="0" smtClean="0">
                <a:latin typeface="Times New Roman" panose="02020603050405020304" pitchFamily="18" charset="0"/>
                <a:cs typeface="Times New Roman" panose="02020603050405020304" pitchFamily="18" charset="0"/>
              </a:rPr>
              <a:t> </a:t>
            </a:r>
            <a:r>
              <a:rPr lang="en-IN" sz="800" dirty="0">
                <a:latin typeface="Times New Roman" panose="02020603050405020304" pitchFamily="18" charset="0"/>
                <a:cs typeface="Times New Roman" panose="02020603050405020304" pitchFamily="18" charset="0"/>
              </a:rPr>
              <a:t>Two or Three Button </a:t>
            </a:r>
            <a:r>
              <a:rPr lang="en-IN" sz="800" dirty="0" smtClean="0">
                <a:latin typeface="Times New Roman" panose="02020603050405020304" pitchFamily="18" charset="0"/>
                <a:cs typeface="Times New Roman" panose="02020603050405020304" pitchFamily="18" charset="0"/>
              </a:rPr>
              <a:t>Mouse)</a:t>
            </a:r>
            <a:endParaRPr lang="en-IN" sz="800" dirty="0">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Resources</a:t>
            </a:r>
            <a:endParaRPr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Software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smtClean="0">
                <a:latin typeface="Times New Roman" panose="02020603050405020304" pitchFamily="18" charset="0"/>
                <a:cs typeface="Times New Roman" panose="02020603050405020304" pitchFamily="18" charset="0"/>
              </a:rPr>
              <a:t>(</a:t>
            </a:r>
            <a:r>
              <a:rPr lang="en-US" sz="800" b="1" dirty="0" smtClean="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a:t>
            </a:r>
            <a:r>
              <a:rPr lang="en-US" sz="800" dirty="0" smtClean="0">
                <a:latin typeface="Times New Roman" panose="02020603050405020304" pitchFamily="18" charset="0"/>
                <a:cs typeface="Times New Roman" panose="02020603050405020304" pitchFamily="18" charset="0"/>
              </a:rPr>
              <a:t>10, </a:t>
            </a:r>
            <a:r>
              <a:rPr lang="en-US" sz="800" b="1" dirty="0" smtClean="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a:t>
            </a:r>
            <a:r>
              <a:rPr lang="en-US" sz="800" dirty="0" smtClean="0">
                <a:latin typeface="Times New Roman" panose="02020603050405020304" pitchFamily="18" charset="0"/>
                <a:cs typeface="Times New Roman" panose="02020603050405020304" pitchFamily="18" charset="0"/>
              </a:rPr>
              <a:t>3.10.8, </a:t>
            </a:r>
            <a:r>
              <a:rPr lang="en-US" sz="800" b="1" dirty="0" smtClean="0">
                <a:latin typeface="Times New Roman" panose="02020603050405020304" pitchFamily="18" charset="0"/>
                <a:cs typeface="Times New Roman" panose="02020603050405020304" pitchFamily="18" charset="0"/>
              </a:rPr>
              <a:t>IDE: </a:t>
            </a:r>
            <a:r>
              <a:rPr lang="en-US" sz="800" dirty="0" smtClean="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230134"/>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smtClean="0">
                <a:latin typeface="Times New Roman" panose="02020603050405020304" pitchFamily="18" charset="0"/>
                <a:ea typeface="Poppins Black" panose="00000800000000000000"/>
                <a:cs typeface="Times New Roman" panose="02020603050405020304" pitchFamily="18" charset="0"/>
                <a:sym typeface="Poppins Black" panose="00000800000000000000"/>
              </a:rPr>
              <a:t>Packages/Libraries</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klearn</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a:t>
            </a:r>
            <a:r>
              <a:rPr lang="en-US" sz="800" dirty="0" err="1" smtClean="0">
                <a:latin typeface="Times New Roman" panose="02020603050405020304" pitchFamily="18" charset="0"/>
                <a:ea typeface="Poppins" panose="00000500000000000000"/>
                <a:cs typeface="Times New Roman" panose="02020603050405020304" pitchFamily="18" charset="0"/>
                <a:sym typeface="Poppins" panose="00000500000000000000"/>
              </a:rPr>
              <a:t>eaborn</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 Speech </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R</a:t>
            </a:r>
            <a:r>
              <a:rPr lang="en-US" sz="800" dirty="0" smtClean="0">
                <a:latin typeface="Times New Roman" panose="02020603050405020304" pitchFamily="18" charset="0"/>
                <a:ea typeface="Poppins" panose="00000500000000000000"/>
                <a:cs typeface="Times New Roman" panose="02020603050405020304" pitchFamily="18" charset="0"/>
                <a:sym typeface="Poppins" panose="00000500000000000000"/>
              </a:rPr>
              <a:t>ecognition</a:t>
            </a:r>
            <a:endParaRPr sz="8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
        <p:nvSpPr>
          <p:cNvPr id="22" name="Google Shape;894;p34"/>
          <p:cNvSpPr txBox="1"/>
          <p:nvPr/>
        </p:nvSpPr>
        <p:spPr>
          <a:xfrm>
            <a:off x="7740737" y="87503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6083" y="1116619"/>
            <a:ext cx="6783860" cy="184665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Use Case Diagram:</a:t>
            </a:r>
          </a:p>
          <a:p>
            <a:pPr lvl="1" algn="just"/>
            <a:r>
              <a:rPr lang="en-US" sz="1200" b="1" dirty="0"/>
              <a:t>1) </a:t>
            </a:r>
            <a:r>
              <a:rPr lang="en-US" sz="12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a:t>
            </a:r>
          </a:p>
          <a:p>
            <a:pPr lvl="1" algn="just"/>
            <a:endParaRPr lang="en-IN" sz="1200" dirty="0">
              <a:latin typeface="Times New Roman" panose="02020603050405020304" pitchFamily="18" charset="0"/>
              <a:cs typeface="Times New Roman" panose="02020603050405020304" pitchFamily="18" charset="0"/>
            </a:endParaRPr>
          </a:p>
          <a:p>
            <a:pPr lvl="1" algn="just"/>
            <a:r>
              <a:rPr lang="en-US" sz="1200" b="1" dirty="0">
                <a:latin typeface="Times New Roman" panose="02020603050405020304" pitchFamily="18" charset="0"/>
                <a:cs typeface="Times New Roman" panose="02020603050405020304" pitchFamily="18" charset="0"/>
              </a:rPr>
              <a:t>2) </a:t>
            </a:r>
            <a:r>
              <a:rPr lang="en-US" sz="1200" dirty="0">
                <a:latin typeface="Times New Roman" panose="02020603050405020304" pitchFamily="18" charset="0"/>
                <a:cs typeface="Times New Roman" panose="02020603050405020304" pitchFamily="18" charset="0"/>
              </a:rPr>
              <a:t>Its purpose is to present a graphical overview of the functionality provided by a system in terms of actors, their goals (represented as use cases), and any dependencies between those use cases. </a:t>
            </a:r>
          </a:p>
          <a:p>
            <a:pPr lvl="1" algn="just"/>
            <a:endParaRPr lang="en-IN" sz="1200" dirty="0">
              <a:latin typeface="Times New Roman" panose="02020603050405020304" pitchFamily="18" charset="0"/>
              <a:cs typeface="Times New Roman" panose="02020603050405020304" pitchFamily="18" charset="0"/>
            </a:endParaRPr>
          </a:p>
          <a:p>
            <a:pPr lvl="1" algn="just"/>
            <a:r>
              <a:rPr lang="en-US" sz="1200" b="1" dirty="0">
                <a:latin typeface="Times New Roman" panose="02020603050405020304" pitchFamily="18" charset="0"/>
                <a:cs typeface="Times New Roman" panose="02020603050405020304" pitchFamily="18" charset="0"/>
              </a:rPr>
              <a:t>3) </a:t>
            </a:r>
            <a:r>
              <a:rPr lang="en-US" sz="1200" dirty="0">
                <a:latin typeface="Times New Roman" panose="02020603050405020304" pitchFamily="18" charset="0"/>
                <a:cs typeface="Times New Roman" panose="02020603050405020304" pitchFamily="18" charset="0"/>
              </a:rPr>
              <a:t>The main purpose of a use case diagram is to show what system functions are performed for which actor. Roles of the actors in the system can be depicted.</a:t>
            </a:r>
            <a:endParaRPr lang="en-IN" sz="1200" dirty="0">
              <a:latin typeface="Times New Roman" panose="02020603050405020304" pitchFamily="18" charset="0"/>
              <a:cs typeface="Times New Roman" panose="02020603050405020304" pitchFamily="18" charset="0"/>
            </a:endParaRPr>
          </a:p>
        </p:txBody>
      </p:sp>
      <p:sp>
        <p:nvSpPr>
          <p:cNvPr id="2" name="Rectangle 1"/>
          <p:cNvSpPr/>
          <p:nvPr/>
        </p:nvSpPr>
        <p:spPr>
          <a:xfrm>
            <a:off x="2383141" y="254877"/>
            <a:ext cx="3598100" cy="635367"/>
          </a:xfrm>
          <a:prstGeom prst="rect">
            <a:avLst/>
          </a:prstGeom>
        </p:spPr>
        <p:txBody>
          <a:bodyPr wrap="none">
            <a:spAutoFit/>
          </a:bodyPr>
          <a:lstStyle/>
          <a:p>
            <a:pPr lvl="2" algn="ctr">
              <a:lnSpc>
                <a:spcPct val="170000"/>
              </a:lnSpc>
            </a:pPr>
            <a:r>
              <a:rPr lang="en-US" sz="2400" b="1" dirty="0">
                <a:latin typeface="Times New Roman" panose="02020603050405020304" pitchFamily="18" charset="0"/>
                <a:cs typeface="Times New Roman" panose="02020603050405020304" pitchFamily="18" charset="0"/>
              </a:rPr>
              <a:t>UML DIAGRAMS</a:t>
            </a:r>
          </a:p>
        </p:txBody>
      </p:sp>
    </p:spTree>
    <p:extLst>
      <p:ext uri="{BB962C8B-B14F-4D97-AF65-F5344CB8AC3E}">
        <p14:creationId xmlns:p14="http://schemas.microsoft.com/office/powerpoint/2010/main" val="38061344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060057" y="0"/>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endParaRPr lang="en-US" sz="2700" b="1" dirty="0">
              <a:solidFill>
                <a:schemeClr val="accent4"/>
              </a:solidFill>
              <a:latin typeface="Times New Roman" panose="02020603050405020304" pitchFamily="18" charset="0"/>
              <a:cs typeface="Times New Roman" panose="02020603050405020304" pitchFamily="18" charset="0"/>
            </a:endParaRPr>
          </a:p>
        </p:txBody>
      </p:sp>
      <p:sp>
        <p:nvSpPr>
          <p:cNvPr id="2" name="Text Box 1"/>
          <p:cNvSpPr txBox="1"/>
          <p:nvPr/>
        </p:nvSpPr>
        <p:spPr>
          <a:xfrm>
            <a:off x="3331845" y="4297680"/>
            <a:ext cx="2480310" cy="253916"/>
          </a:xfrm>
          <a:prstGeom prst="rect">
            <a:avLst/>
          </a:prstGeom>
          <a:noFill/>
        </p:spPr>
        <p:txBody>
          <a:bodyPr wrap="square" rtlCol="0">
            <a:spAutoFit/>
          </a:bodyPr>
          <a:lstStyle/>
          <a:p>
            <a:pPr algn="ctr"/>
            <a:r>
              <a:rPr lang="en-US" sz="1050" b="1" dirty="0">
                <a:latin typeface="Times New Roman" panose="02020603050405020304" pitchFamily="18" charset="0"/>
                <a:cs typeface="Times New Roman" panose="02020603050405020304" pitchFamily="18" charset="0"/>
              </a:rPr>
              <a:t>Figure: Use Case Diagram</a:t>
            </a:r>
          </a:p>
        </p:txBody>
      </p:sp>
      <p:pic>
        <p:nvPicPr>
          <p:cNvPr id="6" name="Picture 5"/>
          <p:cNvPicPr/>
          <p:nvPr/>
        </p:nvPicPr>
        <p:blipFill>
          <a:blip r:embed="rId2"/>
          <a:stretch>
            <a:fillRect/>
          </a:stretch>
        </p:blipFill>
        <p:spPr>
          <a:xfrm>
            <a:off x="1706244" y="512064"/>
            <a:ext cx="6011291" cy="3785616"/>
          </a:xfrm>
          <a:prstGeom prst="rect">
            <a:avLst/>
          </a:prstGeom>
        </p:spPr>
      </p:pic>
    </p:spTree>
    <p:extLst>
      <p:ext uri="{BB962C8B-B14F-4D97-AF65-F5344CB8AC3E}">
        <p14:creationId xmlns:p14="http://schemas.microsoft.com/office/powerpoint/2010/main" val="30094215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80069" y="316374"/>
            <a:ext cx="6783860" cy="144411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Class Diagram:</a:t>
            </a:r>
          </a:p>
          <a:p>
            <a:pPr algn="just">
              <a:lnSpc>
                <a:spcPct val="150000"/>
              </a:lnSpc>
            </a:pPr>
            <a:r>
              <a:rPr lang="en-US" sz="1200" dirty="0">
                <a:latin typeface="Times New Roman" panose="02020603050405020304" pitchFamily="18" charset="0"/>
                <a:cs typeface="Times New Roman" panose="02020603050405020304"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12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820172" y="1760487"/>
            <a:ext cx="5503653" cy="2536167"/>
          </a:xfrm>
          <a:prstGeom prst="rect">
            <a:avLst/>
          </a:prstGeom>
        </p:spPr>
      </p:pic>
    </p:spTree>
    <p:extLst>
      <p:ext uri="{BB962C8B-B14F-4D97-AF65-F5344CB8AC3E}">
        <p14:creationId xmlns:p14="http://schemas.microsoft.com/office/powerpoint/2010/main" val="6953118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6244" y="626503"/>
            <a:ext cx="3725890" cy="233608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Sequence Diagram:</a:t>
            </a:r>
            <a:endParaRPr lang="en-US"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A sequence diagram in Unified Modeling Language (UML) is a kind of interaction diagram that shows how processes operate with one another and in what order. </a:t>
            </a:r>
            <a:endParaRPr lang="en-IN"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It is a construct of a Message Sequence Chart. Sequence diagrams are sometimes called event diagrams, event scenarios, and timing diagrams</a:t>
            </a:r>
            <a:endParaRPr lang="en-IN" sz="1200" dirty="0">
              <a:latin typeface="Times New Roman" panose="02020603050405020304" pitchFamily="18" charset="0"/>
              <a:cs typeface="Times New Roman" panose="02020603050405020304" pitchFamily="18" charset="0"/>
            </a:endParaRPr>
          </a:p>
          <a:p>
            <a:pPr lvl="0" algn="just">
              <a:lnSpc>
                <a:spcPct val="150000"/>
              </a:lnSpc>
            </a:pPr>
            <a:endParaRPr lang="en-US" sz="15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A15AF60-62C0-F579-BB7F-3EDB03A11641}"/>
              </a:ext>
            </a:extLst>
          </p:cNvPr>
          <p:cNvSpPr txBox="1"/>
          <p:nvPr/>
        </p:nvSpPr>
        <p:spPr>
          <a:xfrm>
            <a:off x="5757640" y="4653821"/>
            <a:ext cx="2542736"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Sequence diagram</a:t>
            </a:r>
          </a:p>
        </p:txBody>
      </p:sp>
      <p:pic>
        <p:nvPicPr>
          <p:cNvPr id="6" name="Picture 5"/>
          <p:cNvPicPr/>
          <p:nvPr/>
        </p:nvPicPr>
        <p:blipFill>
          <a:blip r:embed="rId2"/>
          <a:stretch>
            <a:fillRect/>
          </a:stretch>
        </p:blipFill>
        <p:spPr>
          <a:xfrm>
            <a:off x="4659058" y="626503"/>
            <a:ext cx="3190875" cy="3533775"/>
          </a:xfrm>
          <a:prstGeom prst="rect">
            <a:avLst/>
          </a:prstGeom>
        </p:spPr>
      </p:pic>
    </p:spTree>
    <p:extLst>
      <p:ext uri="{BB962C8B-B14F-4D97-AF65-F5344CB8AC3E}">
        <p14:creationId xmlns:p14="http://schemas.microsoft.com/office/powerpoint/2010/main" val="19087341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3181" y="436497"/>
            <a:ext cx="4123097" cy="255210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Collaboration Diagram:</a:t>
            </a: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IN" sz="1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DD7DA89-E7A1-5B48-DF8F-D378BF65F762}"/>
              </a:ext>
            </a:extLst>
          </p:cNvPr>
          <p:cNvSpPr txBox="1"/>
          <p:nvPr/>
        </p:nvSpPr>
        <p:spPr>
          <a:xfrm>
            <a:off x="4396278" y="4499148"/>
            <a:ext cx="4579034"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Collaboration diagram</a:t>
            </a:r>
          </a:p>
        </p:txBody>
      </p:sp>
      <p:pic>
        <p:nvPicPr>
          <p:cNvPr id="7" name="Picture 6"/>
          <p:cNvPicPr/>
          <p:nvPr/>
        </p:nvPicPr>
        <p:blipFill>
          <a:blip r:embed="rId2"/>
          <a:stretch>
            <a:fillRect/>
          </a:stretch>
        </p:blipFill>
        <p:spPr>
          <a:xfrm>
            <a:off x="5047488" y="296733"/>
            <a:ext cx="3584448" cy="3810000"/>
          </a:xfrm>
          <a:prstGeom prst="rect">
            <a:avLst/>
          </a:prstGeom>
        </p:spPr>
      </p:pic>
    </p:spTree>
    <p:extLst>
      <p:ext uri="{BB962C8B-B14F-4D97-AF65-F5344CB8AC3E}">
        <p14:creationId xmlns:p14="http://schemas.microsoft.com/office/powerpoint/2010/main" val="66719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05470" y="308544"/>
            <a:ext cx="6783860" cy="1167114"/>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Deployment Diagram</a:t>
            </a: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1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B7D19A-C0A4-676F-5F87-D3DB6BCFBCD6}"/>
              </a:ext>
            </a:extLst>
          </p:cNvPr>
          <p:cNvSpPr txBox="1"/>
          <p:nvPr/>
        </p:nvSpPr>
        <p:spPr>
          <a:xfrm>
            <a:off x="2141806" y="4255980"/>
            <a:ext cx="4579034"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Deployment diagram</a:t>
            </a:r>
          </a:p>
        </p:txBody>
      </p:sp>
      <p:pic>
        <p:nvPicPr>
          <p:cNvPr id="5" name="Picture 4"/>
          <p:cNvPicPr/>
          <p:nvPr/>
        </p:nvPicPr>
        <p:blipFill>
          <a:blip r:embed="rId2"/>
          <a:stretch>
            <a:fillRect/>
          </a:stretch>
        </p:blipFill>
        <p:spPr>
          <a:xfrm>
            <a:off x="2612517" y="2762121"/>
            <a:ext cx="3333750" cy="771525"/>
          </a:xfrm>
          <a:prstGeom prst="rect">
            <a:avLst/>
          </a:prstGeom>
        </p:spPr>
      </p:pic>
    </p:spTree>
    <p:extLst>
      <p:ext uri="{BB962C8B-B14F-4D97-AF65-F5344CB8AC3E}">
        <p14:creationId xmlns:p14="http://schemas.microsoft.com/office/powerpoint/2010/main" val="7097225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8481" y="240031"/>
            <a:ext cx="3958112" cy="2275110"/>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Activity Diagram:</a:t>
            </a: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1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211210" y="4316498"/>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Activity diagram</a:t>
            </a:r>
          </a:p>
        </p:txBody>
      </p:sp>
      <p:pic>
        <p:nvPicPr>
          <p:cNvPr id="6" name="Picture 5"/>
          <p:cNvPicPr/>
          <p:nvPr/>
        </p:nvPicPr>
        <p:blipFill>
          <a:blip r:embed="rId2"/>
          <a:stretch>
            <a:fillRect/>
          </a:stretch>
        </p:blipFill>
        <p:spPr>
          <a:xfrm>
            <a:off x="4485736" y="713783"/>
            <a:ext cx="4203458" cy="3602715"/>
          </a:xfrm>
          <a:prstGeom prst="rect">
            <a:avLst/>
          </a:prstGeom>
        </p:spPr>
      </p:pic>
    </p:spTree>
    <p:extLst>
      <p:ext uri="{BB962C8B-B14F-4D97-AF65-F5344CB8AC3E}">
        <p14:creationId xmlns:p14="http://schemas.microsoft.com/office/powerpoint/2010/main" val="14503271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55393" y="406704"/>
            <a:ext cx="6783860" cy="144411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Component Diagram</a:t>
            </a:r>
            <a:r>
              <a:rPr lang="en-US" sz="1200" dirty="0">
                <a:latin typeface="Times New Roman" panose="02020603050405020304" pitchFamily="18" charset="0"/>
                <a:cs typeface="Times New Roman" panose="02020603050405020304" pitchFamily="18" charset="0"/>
              </a:rPr>
              <a:t>:</a:t>
            </a:r>
          </a:p>
          <a:p>
            <a:pPr algn="just">
              <a:lnSpc>
                <a:spcPct val="150000"/>
              </a:lnSpc>
            </a:pPr>
            <a:r>
              <a:rPr lang="en-US" sz="12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1200" b="1" dirty="0">
                <a:latin typeface="Times New Roman" panose="02020603050405020304" pitchFamily="18" charset="0"/>
                <a:cs typeface="Times New Roman" panose="02020603050405020304" pitchFamily="18" charset="0"/>
              </a:rPr>
              <a:t>c</a:t>
            </a:r>
            <a:r>
              <a:rPr lang="en-US" sz="12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 is covered by planned development.</a:t>
            </a:r>
            <a:endParaRPr lang="en-IN" sz="1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B21F7E2-B805-2E93-83E8-18D234DEBB88}"/>
              </a:ext>
            </a:extLst>
          </p:cNvPr>
          <p:cNvSpPr txBox="1"/>
          <p:nvPr/>
        </p:nvSpPr>
        <p:spPr>
          <a:xfrm>
            <a:off x="3043232" y="451537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Component diagram</a:t>
            </a:r>
          </a:p>
        </p:txBody>
      </p:sp>
      <p:pic>
        <p:nvPicPr>
          <p:cNvPr id="5" name="Picture 4"/>
          <p:cNvPicPr/>
          <p:nvPr/>
        </p:nvPicPr>
        <p:blipFill>
          <a:blip r:embed="rId2"/>
          <a:stretch>
            <a:fillRect/>
          </a:stretch>
        </p:blipFill>
        <p:spPr>
          <a:xfrm>
            <a:off x="2046541" y="2921846"/>
            <a:ext cx="4429125" cy="809625"/>
          </a:xfrm>
          <a:prstGeom prst="rect">
            <a:avLst/>
          </a:prstGeom>
        </p:spPr>
      </p:pic>
    </p:spTree>
    <p:extLst>
      <p:ext uri="{BB962C8B-B14F-4D97-AF65-F5344CB8AC3E}">
        <p14:creationId xmlns:p14="http://schemas.microsoft.com/office/powerpoint/2010/main" val="18657838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55398" y="404489"/>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endParaRPr lang="en-US" sz="2700" b="1" dirty="0">
              <a:solidFill>
                <a:schemeClr val="accent4"/>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421102" y="404489"/>
            <a:ext cx="7916092" cy="355481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ER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 </a:t>
            </a:r>
            <a:endParaRPr lang="en-IN" sz="1050" dirty="0">
              <a:latin typeface="Times New Roman" panose="02020603050405020304" pitchFamily="18" charset="0"/>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87041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95745" y="432416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ER diagram</a:t>
            </a:r>
          </a:p>
        </p:txBody>
      </p:sp>
      <p:pic>
        <p:nvPicPr>
          <p:cNvPr id="5" name="Picture 4"/>
          <p:cNvPicPr/>
          <p:nvPr/>
        </p:nvPicPr>
        <p:blipFill>
          <a:blip r:embed="rId2"/>
          <a:stretch>
            <a:fillRect/>
          </a:stretch>
        </p:blipFill>
        <p:spPr>
          <a:xfrm>
            <a:off x="1104181" y="793630"/>
            <a:ext cx="7228936" cy="3191774"/>
          </a:xfrm>
          <a:prstGeom prst="rect">
            <a:avLst/>
          </a:prstGeom>
        </p:spPr>
      </p:pic>
    </p:spTree>
    <p:extLst>
      <p:ext uri="{BB962C8B-B14F-4D97-AF65-F5344CB8AC3E}">
        <p14:creationId xmlns:p14="http://schemas.microsoft.com/office/powerpoint/2010/main" val="36004689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6102" y="305575"/>
            <a:ext cx="7302843" cy="1998111"/>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DFD Diagram:</a:t>
            </a: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97002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88710" y="4192438"/>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FigureLevel-1 diagram</a:t>
            </a:r>
          </a:p>
        </p:txBody>
      </p:sp>
      <p:pic>
        <p:nvPicPr>
          <p:cNvPr id="5" name="Picture 4"/>
          <p:cNvPicPr/>
          <p:nvPr/>
        </p:nvPicPr>
        <p:blipFill>
          <a:blip r:embed="rId2"/>
          <a:stretch>
            <a:fillRect/>
          </a:stretch>
        </p:blipFill>
        <p:spPr>
          <a:xfrm>
            <a:off x="1863305" y="810882"/>
            <a:ext cx="5003321" cy="3381556"/>
          </a:xfrm>
          <a:prstGeom prst="rect">
            <a:avLst/>
          </a:prstGeom>
        </p:spPr>
      </p:pic>
    </p:spTree>
    <p:extLst>
      <p:ext uri="{BB962C8B-B14F-4D97-AF65-F5344CB8AC3E}">
        <p14:creationId xmlns:p14="http://schemas.microsoft.com/office/powerpoint/2010/main" val="39416443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81307" y="4147107"/>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Figure:Level-2 diagram</a:t>
            </a:r>
          </a:p>
        </p:txBody>
      </p:sp>
      <p:pic>
        <p:nvPicPr>
          <p:cNvPr id="5" name="Picture 4"/>
          <p:cNvPicPr/>
          <p:nvPr/>
        </p:nvPicPr>
        <p:blipFill>
          <a:blip r:embed="rId2"/>
          <a:stretch>
            <a:fillRect/>
          </a:stretch>
        </p:blipFill>
        <p:spPr>
          <a:xfrm>
            <a:off x="2047444" y="516749"/>
            <a:ext cx="4420235" cy="3630358"/>
          </a:xfrm>
          <a:prstGeom prst="rect">
            <a:avLst/>
          </a:prstGeom>
        </p:spPr>
      </p:pic>
    </p:spTree>
    <p:extLst>
      <p:ext uri="{BB962C8B-B14F-4D97-AF65-F5344CB8AC3E}">
        <p14:creationId xmlns:p14="http://schemas.microsoft.com/office/powerpoint/2010/main" val="65148454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35213" y="134967"/>
            <a:ext cx="7441663" cy="735496"/>
          </a:xfrm>
          <a:prstGeom prst="rect">
            <a:avLst/>
          </a:prstGeom>
        </p:spPr>
        <p:txBody>
          <a:bodyPr spcFirstLastPara="1" wrap="square" lIns="91425" tIns="91425" rIns="91425" bIns="91425" anchor="t" anchorCtr="0">
            <a:noAutofit/>
          </a:bodyPr>
          <a:lstStyle/>
          <a:p>
            <a:pPr algn="ctr">
              <a:lnSpc>
                <a:spcPct val="150000"/>
              </a:lnSpc>
            </a:pPr>
            <a:r>
              <a:rPr lang="en-US" sz="1800" b="1" dirty="0">
                <a:solidFill>
                  <a:schemeClr val="tx1"/>
                </a:solidFill>
                <a:latin typeface="Times New Roman" panose="02020603050405020304" pitchFamily="18" charset="0"/>
                <a:cs typeface="Times New Roman" panose="02020603050405020304" pitchFamily="18" charset="0"/>
              </a:rPr>
              <a:t>Research Gap analysis</a:t>
            </a:r>
          </a:p>
        </p:txBody>
      </p:sp>
      <p:sp>
        <p:nvSpPr>
          <p:cNvPr id="6"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
        <p:nvSpPr>
          <p:cNvPr id="2" name="Rectangle 1"/>
          <p:cNvSpPr>
            <a:spLocks noChangeArrowheads="1"/>
          </p:cNvSpPr>
          <p:nvPr/>
        </p:nvSpPr>
        <p:spPr bwMode="auto">
          <a:xfrm>
            <a:off x="447044" y="364019"/>
            <a:ext cx="814899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46050" indent="0" algn="just">
              <a:lnSpc>
                <a:spcPct val="200000"/>
              </a:lnSpc>
              <a:buNone/>
            </a:pPr>
            <a:r>
              <a:rPr lang="en-US" sz="1200" dirty="0">
                <a:latin typeface="Times New Roman" panose="02020603050405020304" pitchFamily="18" charset="0"/>
                <a:cs typeface="Times New Roman" panose="02020603050405020304" pitchFamily="18" charset="0"/>
              </a:rPr>
              <a:t>Despite the significant advancements in cybersecurity, traditional ransomware detection methods, primarily signature-based approaches, face limitations in identifying new and evolving ransomware strains. These methods are increasingly ineffective against sophisticated attacks that use polymorphic and metamorphic techniques, rendering the detection system obsolete for novel threats. Furthermore, current systems often fail to detect ransomware activity in its early stages, missing critical warning signs that could prevent the spread of attacks. This gap is compounded by the lack of integration between behavioral analysis and network traffic monitoring, which could provide a more comprehensive view of ransomware activity. Most existing solutions focus on individual aspects such as file encryption or system behaviors, without considering the broader context of network traffic anomalies that are often key indicators of ransomware presence. Moreover, there is a lack of adaptive models capable of evolving with new data, which limits the ability to detect emerging ransomware tactics and reduces the accuracy of existing systems. Thus, there is a clear need for an integrated, adaptive monitoring framework that combines real-time system behavior analysis and network traffic analysis, offering a dynamic response to ransomware threats and enhancing early-stage detection capabilities.</a:t>
            </a:r>
            <a:endPar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154901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32160" y="517584"/>
            <a:ext cx="8511840" cy="3970318"/>
          </a:xfrm>
          <a:prstGeom prst="rect">
            <a:avLst/>
          </a:prstGeom>
        </p:spPr>
        <p:txBody>
          <a:bodyPr wrap="square">
            <a:spAutoFit/>
          </a:bodyPr>
          <a:lstStyle/>
          <a:p>
            <a:pPr>
              <a:lnSpc>
                <a:spcPct val="150000"/>
              </a:lnSpc>
            </a:pPr>
            <a:r>
              <a:rPr lang="en-US" sz="1200" b="1" dirty="0">
                <a:latin typeface="Times New Roman" panose="02020603050405020304" pitchFamily="18" charset="0"/>
                <a:cs typeface="Times New Roman" panose="02020603050405020304" pitchFamily="18" charset="0"/>
              </a:rPr>
              <a:t>MODULES</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System</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User</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1. System:</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1.1 Store Dataset:</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dirty="0">
                <a:latin typeface="Times New Roman" panose="02020603050405020304" pitchFamily="18" charset="0"/>
                <a:cs typeface="Times New Roman" panose="02020603050405020304" pitchFamily="18" charset="0"/>
              </a:rPr>
              <a:t>The System stores the dataset given by the user.</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1.2 Model Training:</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dirty="0">
                <a:latin typeface="Times New Roman" panose="02020603050405020304" pitchFamily="18" charset="0"/>
                <a:cs typeface="Times New Roman" panose="02020603050405020304" pitchFamily="18" charset="0"/>
              </a:rPr>
              <a:t>The system takes the data from the user and fed that data to the selected model.</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1.3 Model Predictions:</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dirty="0">
                <a:latin typeface="Times New Roman" panose="02020603050405020304" pitchFamily="18" charset="0"/>
                <a:cs typeface="Times New Roman" panose="02020603050405020304" pitchFamily="18" charset="0"/>
              </a:rPr>
              <a:t>The system takes the data given by the user and predict the output based on the given data.</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2. User:</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2.1.Registration:</a:t>
            </a:r>
            <a:br>
              <a:rPr lang="en-US" sz="1200" b="1"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User can register his values on the website and also validations are applied </a:t>
            </a:r>
            <a:endParaRPr lang="en-IN" sz="1200" dirty="0">
              <a:latin typeface="Times New Roman" panose="02020603050405020304" pitchFamily="18" charset="0"/>
              <a:cs typeface="Times New Roman" panose="02020603050405020304" pitchFamily="18" charset="0"/>
            </a:endParaRPr>
          </a:p>
          <a:p>
            <a:r>
              <a:rPr lang="en-IN" dirty="0"/>
              <a:t> </a:t>
            </a:r>
          </a:p>
        </p:txBody>
      </p:sp>
    </p:spTree>
    <p:extLst>
      <p:ext uri="{BB962C8B-B14F-4D97-AF65-F5344CB8AC3E}">
        <p14:creationId xmlns:p14="http://schemas.microsoft.com/office/powerpoint/2010/main" val="14565896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11140" y="501324"/>
            <a:ext cx="8532860" cy="4194931"/>
          </a:xfrm>
          <a:prstGeom prst="rect">
            <a:avLst/>
          </a:prstGeom>
        </p:spPr>
        <p:txBody>
          <a:bodyPr wrap="square">
            <a:spAutoFit/>
          </a:bodyPr>
          <a:lstStyle/>
          <a:p>
            <a:pPr algn="just">
              <a:lnSpc>
                <a:spcPct val="107000"/>
              </a:lnSpc>
              <a:spcBef>
                <a:spcPts val="1200"/>
              </a:spcBef>
              <a:spcAft>
                <a:spcPts val="8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2.2 Login:</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1200" b="1" dirty="0">
                <a:latin typeface="Times" panose="02020603050405020304" pitchFamily="18" charset="0"/>
                <a:ea typeface="Calibri" panose="020F0502020204030204" pitchFamily="34" charset="0"/>
                <a:cs typeface="Times" panose="02020603050405020304" pitchFamily="18" charset="0"/>
              </a:rPr>
              <a:t>Username/Email Field:</a:t>
            </a:r>
            <a:r>
              <a:rPr lang="en-US" sz="1200" dirty="0">
                <a:latin typeface="Times" panose="02020603050405020304" pitchFamily="18" charset="0"/>
                <a:ea typeface="Calibri" panose="020F0502020204030204" pitchFamily="34" charset="0"/>
                <a:cs typeface="Times" panose="02020603050405020304" pitchFamily="18" charset="0"/>
              </a:rPr>
              <a:t> </a:t>
            </a:r>
            <a:r>
              <a:rPr lang="en-US" sz="1200" dirty="0">
                <a:latin typeface="Times New Roman" panose="02020603050405020304" pitchFamily="18" charset="0"/>
                <a:ea typeface="Calibri" panose="020F0502020204030204" pitchFamily="34" charset="0"/>
                <a:cs typeface="Times New Roman" panose="02020603050405020304" pitchFamily="18" charset="0"/>
              </a:rPr>
              <a:t>Checks for valid email formats or existing usernames.</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200" b="1" dirty="0">
                <a:latin typeface="Times" panose="02020603050405020304" pitchFamily="18" charset="0"/>
                <a:ea typeface="Calibri" panose="020F0502020204030204" pitchFamily="34" charset="0"/>
                <a:cs typeface="Times" panose="02020603050405020304" pitchFamily="18" charset="0"/>
              </a:rPr>
              <a:t>Password Field:</a:t>
            </a:r>
            <a:r>
              <a:rPr lang="en-US" sz="1200" dirty="0">
                <a:latin typeface="Times" panose="02020603050405020304" pitchFamily="18" charset="0"/>
                <a:ea typeface="Calibri" panose="020F0502020204030204" pitchFamily="34" charset="0"/>
                <a:cs typeface="Times" panose="02020603050405020304" pitchFamily="18" charset="0"/>
              </a:rPr>
              <a:t> </a:t>
            </a:r>
            <a:r>
              <a:rPr lang="en-US" sz="1200" dirty="0">
                <a:latin typeface="Times New Roman" panose="02020603050405020304" pitchFamily="18" charset="0"/>
                <a:ea typeface="Calibri" panose="020F0502020204030204" pitchFamily="34" charset="0"/>
                <a:cs typeface="Times New Roman" panose="02020603050405020304" pitchFamily="18" charset="0"/>
              </a:rPr>
              <a:t>Ensures the password meets security requirements (e.g., minimum length, complexity).</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1200"/>
              </a:spcBef>
              <a:spcAft>
                <a:spcPts val="800"/>
              </a:spcAft>
            </a:pPr>
            <a:r>
              <a:rPr lang="en-US" sz="1200" b="1" dirty="0">
                <a:latin typeface="Times" panose="02020603050405020304" pitchFamily="18" charset="0"/>
                <a:ea typeface="Calibri" panose="020F0502020204030204" pitchFamily="34" charset="0"/>
                <a:cs typeface="Times" panose="02020603050405020304" pitchFamily="18" charset="0"/>
              </a:rPr>
              <a:t>Validation Messages:</a:t>
            </a:r>
            <a:r>
              <a:rPr lang="en-US" sz="1200" dirty="0">
                <a:latin typeface="Times" panose="02020603050405020304" pitchFamily="18" charset="0"/>
                <a:ea typeface="Calibri" panose="020F0502020204030204" pitchFamily="34" charset="0"/>
                <a:cs typeface="Times" panose="02020603050405020304" pitchFamily="18" charset="0"/>
              </a:rPr>
              <a:t> </a:t>
            </a:r>
            <a:r>
              <a:rPr lang="en-US" sz="1200" dirty="0">
                <a:latin typeface="Times New Roman" panose="02020603050405020304" pitchFamily="18" charset="0"/>
                <a:ea typeface="Calibri" panose="020F0502020204030204" pitchFamily="34" charset="0"/>
                <a:cs typeface="Times New Roman" panose="02020603050405020304" pitchFamily="18" charset="0"/>
              </a:rPr>
              <a:t>Provides immediate feedback if the input is incorrect or if the account details do not match.</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2.3.Viewing the dataset :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User can able to view the dataset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2.4.Model selection:</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User can selects the accuracy of a model and view the accuracy of that particular model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2.5.Prediction:</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User can predict based on the </a:t>
            </a:r>
            <a:r>
              <a:rPr lang="en-US" sz="1200" dirty="0" smtClean="0">
                <a:latin typeface="Times New Roman" panose="02020603050405020304" pitchFamily="18" charset="0"/>
                <a:ea typeface="Calibri" panose="020F0502020204030204" pitchFamily="34" charset="0"/>
                <a:cs typeface="Times New Roman" panose="02020603050405020304" pitchFamily="18" charset="0"/>
              </a:rPr>
              <a:t>if the person is suffering from stress or not stress</a:t>
            </a:r>
            <a:r>
              <a:rPr lang="en-US" sz="1200" b="1" dirty="0" smtClean="0">
                <a:latin typeface="Times New Roman" panose="02020603050405020304" pitchFamily="18" charset="0"/>
                <a:ea typeface="Calibri" panose="020F0502020204030204" pitchFamily="34" charset="0"/>
                <a:cs typeface="Times New Roman" panose="02020603050405020304" pitchFamily="18" charset="0"/>
              </a:rPr>
              <a:t>. </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82362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lvl="0"/>
            <a:r>
              <a:rPr lang="en-IN" sz="1800" b="1" dirty="0">
                <a:solidFill>
                  <a:schemeClr val="tx1"/>
                </a:solidFill>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9455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Explanation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smtClean="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307777"/>
          </a:xfrm>
          <a:prstGeom prst="rect">
            <a:avLst/>
          </a:prstGeom>
          <a:noFill/>
        </p:spPr>
        <p:txBody>
          <a:bodyPr wrap="square" rtlCol="0">
            <a:spAutoFit/>
          </a:bodyPr>
          <a:lstStyle/>
          <a:p>
            <a:r>
              <a:rPr lang="en-US" sz="1400" b="1" dirty="0" smtClean="0">
                <a:latin typeface="Times New Roman" panose="02020603050405020304" pitchFamily="18" charset="0"/>
                <a:cs typeface="Times New Roman" panose="02020603050405020304" pitchFamily="18" charset="0"/>
              </a:rPr>
              <a:t>Model Implementation</a:t>
            </a:r>
            <a:endParaRPr lang="en-IN" sz="1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981049" y="1105946"/>
            <a:ext cx="1388393" cy="417422"/>
          </a:xfrm>
          <a:prstGeom prst="rect">
            <a:avLst/>
          </a:prstGeom>
        </p:spPr>
        <p:txBody>
          <a:bodyPr wrap="none">
            <a:spAutoFit/>
          </a:bodyPr>
          <a:lstStyle/>
          <a:p>
            <a:pPr algn="just">
              <a:lnSpc>
                <a:spcPct val="150000"/>
              </a:lnSpc>
            </a:pPr>
            <a:r>
              <a:rPr lang="en-US" sz="1600" b="1" dirty="0" smtClean="0">
                <a:latin typeface="Times New Roman" panose="02020603050405020304" pitchFamily="18" charset="0"/>
                <a:cs typeface="Times New Roman" panose="02020603050405020304" pitchFamily="18" charset="0"/>
              </a:rPr>
              <a:t>Data Analysis</a:t>
            </a:r>
            <a:endParaRPr lang="en-US" sz="1600" b="1" dirty="0">
              <a:latin typeface="Times New Roman" panose="02020603050405020304" pitchFamily="18" charset="0"/>
              <a:cs typeface="Times New Roman" panose="02020603050405020304" pitchFamily="18" charset="0"/>
            </a:endParaRPr>
          </a:p>
        </p:txBody>
      </p:sp>
      <p:sp>
        <p:nvSpPr>
          <p:cNvPr id="23"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235077"/>
            <a:ext cx="7713900" cy="710700"/>
          </a:xfrm>
          <a:prstGeom prst="rect">
            <a:avLst/>
          </a:prstGeom>
          <a:ln>
            <a:noFill/>
          </a:ln>
        </p:spPr>
        <p:txBody>
          <a:bodyPr spcFirstLastPara="1" wrap="square" lIns="91425" tIns="91425" rIns="91425" bIns="91425" anchor="t" anchorCtr="0">
            <a:noAutofit/>
          </a:bodyPr>
          <a:lstStyle/>
          <a:p>
            <a:pPr lvl="0"/>
            <a:r>
              <a:rPr lang="en-IN" sz="18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3" name="Rectangle 2"/>
          <p:cNvSpPr>
            <a:spLocks noChangeArrowheads="1"/>
          </p:cNvSpPr>
          <p:nvPr/>
        </p:nvSpPr>
        <p:spPr bwMode="auto">
          <a:xfrm>
            <a:off x="509691" y="3145336"/>
            <a:ext cx="84046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sp>
        <p:nvSpPr>
          <p:cNvPr id="6" name="Rectangle 3"/>
          <p:cNvSpPr>
            <a:spLocks noChangeArrowheads="1"/>
          </p:cNvSpPr>
          <p:nvPr/>
        </p:nvSpPr>
        <p:spPr bwMode="auto">
          <a:xfrm rot="10800000" flipV="1">
            <a:off x="881569" y="490971"/>
            <a:ext cx="626854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200000"/>
              </a:lnSpc>
            </a:pPr>
            <a:r>
              <a:rPr lang="en-US" sz="1200" dirty="0" err="1">
                <a:latin typeface="Times New Roman" panose="02020603050405020304" pitchFamily="18" charset="0"/>
                <a:cs typeface="Times New Roman" panose="02020603050405020304" pitchFamily="18" charset="0"/>
              </a:rPr>
              <a:t>dataset:https</a:t>
            </a:r>
            <a:r>
              <a:rPr lang="en-US" sz="1200" dirty="0">
                <a:latin typeface="Times New Roman" panose="02020603050405020304" pitchFamily="18" charset="0"/>
                <a:cs typeface="Times New Roman" panose="02020603050405020304" pitchFamily="18" charset="0"/>
              </a:rPr>
              <a:t>://www.kaggle.com/datasets/cloudymts/ransomeware-dataset</a:t>
            </a:r>
          </a:p>
          <a:p>
            <a:pPr>
              <a:lnSpc>
                <a:spcPct val="200000"/>
              </a:lnSpc>
            </a:pP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endParaRPr lang="en-US" altLang="en-US" sz="12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200" b="0" i="0" u="none" strike="noStrike" cap="none" normalizeH="0" baseline="0" dirty="0" smtClean="0">
              <a:ln>
                <a:noFill/>
              </a:ln>
              <a:solidFill>
                <a:schemeClr val="tx1"/>
              </a:solidFill>
              <a:effectLst/>
              <a:latin typeface="Times" panose="02020603050405020304" pitchFamily="18" charset="0"/>
              <a:cs typeface="Times" panose="02020603050405020304" pitchFamily="18" charset="0"/>
            </a:endParaRPr>
          </a:p>
        </p:txBody>
      </p:sp>
      <p:sp>
        <p:nvSpPr>
          <p:cNvPr id="2" name="Rectangle 1"/>
          <p:cNvSpPr>
            <a:spLocks noChangeArrowheads="1"/>
          </p:cNvSpPr>
          <p:nvPr/>
        </p:nvSpPr>
        <p:spPr bwMode="auto">
          <a:xfrm>
            <a:off x="881569" y="945777"/>
            <a:ext cx="697014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id.orig_h</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represents the originating host's IP address. It is the address of the source machine from where the network packet originates.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id.orig_p</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represents the originating port number. It is the port used on the source machine for sending the data packet.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id.resp_h</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is the responding host's IP address. It represents the destination IP address or the machine that receives the data packet.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id.resp_p</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represents the responding port number. It is the port used on the destination machine (the responding side) to receive the data packet.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proto</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refers to the protocol used for the communication. Examples include TCP (Transmission Control Protocol), UDP (User Datagram Protocol), or ICMP (Internet Control Message Protocol).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service</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refers to the network service used by the communication. It could include common services like HTTP (for web traffic), FTP (File Transfer Protocol), SMTP (Simple Mail Transfer Protocol), etc.</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duration</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indicates the total duration of the connection or session, typically measured in seconds. It represents how long the network connection lasted.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orig_bytes</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is the number of bytes sent from the originating host. It represents the data volume sent by the source machine.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resp_bytes</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is the number of bytes received by the responding host. It represents the data volume sent back from the destination machine to the source.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conn_state</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indicates the current state of the connection. Common states include "S0" (no reply), "SF" (successful connection), "REJ" (rejected connection), etc. It helps in identifying the status of the connection.</a:t>
            </a:r>
          </a:p>
        </p:txBody>
      </p:sp>
    </p:spTree>
    <p:extLst>
      <p:ext uri="{BB962C8B-B14F-4D97-AF65-F5344CB8AC3E}">
        <p14:creationId xmlns:p14="http://schemas.microsoft.com/office/powerpoint/2010/main" val="285565083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34</a:t>
            </a:fld>
            <a:endParaRPr lang="en-US" dirty="0"/>
          </a:p>
        </p:txBody>
      </p:sp>
      <p:sp>
        <p:nvSpPr>
          <p:cNvPr id="3" name="Rectangle 1"/>
          <p:cNvSpPr>
            <a:spLocks noChangeArrowheads="1"/>
          </p:cNvSpPr>
          <p:nvPr/>
        </p:nvSpPr>
        <p:spPr bwMode="auto">
          <a:xfrm>
            <a:off x="619231" y="860812"/>
            <a:ext cx="800718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missed_bytes</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represents the number of bytes that were missed in the communication, typically used in cases where some packets might have been lost during the transfer.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history</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field might contain a record of the session or connection's history, such as whether the session was established previously or any anomalies encountered during the connection.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orig_pkts</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number of packets sent from the originating host during the connection. It helps in analyzing traffic flow.</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orig_ip_bytes</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represents the total number of IP-level bytes sent from the originating host, which includes the data and any additional headers or overhead.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resp_pkts</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number of packets received by the responding host during the connection.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resp_ip_bytes</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represents the total number of IP-level bytes received by the responding host.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label</a:t>
            </a:r>
            <a:r>
              <a:rPr kumimoji="0" lang="en-US" altLang="en-US" sz="1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label column generally indicates the type of traffic or the nature of the communication. It could be "normal" for typical network traffic or a specific label indicating suspicious or malicious activity (e.g., "attack" or "anomaly"). It helps in classifying the traffic and detecting intrusions or other irregularities.</a:t>
            </a:r>
          </a:p>
        </p:txBody>
      </p:sp>
    </p:spTree>
    <p:extLst>
      <p:ext uri="{BB962C8B-B14F-4D97-AF65-F5344CB8AC3E}">
        <p14:creationId xmlns:p14="http://schemas.microsoft.com/office/powerpoint/2010/main" val="2008699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284058"/>
            <a:ext cx="7713900" cy="757457"/>
          </a:xfrm>
          <a:prstGeom prst="rect">
            <a:avLst/>
          </a:prstGeom>
          <a:ln>
            <a:noFill/>
          </a:ln>
        </p:spPr>
        <p:txBody>
          <a:bodyPr spcFirstLastPara="1" wrap="square" lIns="91425" tIns="91425" rIns="91425" bIns="91425" anchor="t" anchorCtr="0">
            <a:noAutofit/>
          </a:bodyPr>
          <a:lstStyle/>
          <a:p>
            <a:pPr lvl="0"/>
            <a:r>
              <a:rPr lang="en-IN"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p:nvPr/>
        </p:nvSpPr>
        <p:spPr>
          <a:xfrm>
            <a:off x="339558" y="549413"/>
            <a:ext cx="1460656" cy="369332"/>
          </a:xfrm>
          <a:prstGeom prst="rect">
            <a:avLst/>
          </a:prstGeom>
        </p:spPr>
        <p:txBody>
          <a:bodyPr wrap="none">
            <a:spAutoFit/>
          </a:bodyPr>
          <a:lstStyle/>
          <a:p>
            <a:r>
              <a:rPr lang="en-US" b="1" dirty="0">
                <a:latin typeface="Times New Roman" panose="02020603050405020304" pitchFamily="18" charset="0"/>
                <a:ea typeface="Calibri" panose="020F0502020204030204" pitchFamily="34" charset="0"/>
              </a:rPr>
              <a:t>Naive Bayes:</a:t>
            </a:r>
            <a:endParaRPr lang="en-IN" dirty="0"/>
          </a:p>
        </p:txBody>
      </p:sp>
      <p:sp>
        <p:nvSpPr>
          <p:cNvPr id="6" name="Rectangle 5"/>
          <p:cNvSpPr/>
          <p:nvPr/>
        </p:nvSpPr>
        <p:spPr>
          <a:xfrm>
            <a:off x="339558" y="2170204"/>
            <a:ext cx="4572000" cy="409023"/>
          </a:xfrm>
          <a:prstGeom prst="rect">
            <a:avLst/>
          </a:prstGeom>
        </p:spPr>
        <p:txBody>
          <a:bodyPr>
            <a:spAutoFit/>
          </a:bodyPr>
          <a:lstStyle/>
          <a:p>
            <a:pPr>
              <a:lnSpc>
                <a:spcPct val="200000"/>
              </a:lnSpc>
              <a:spcAft>
                <a:spcPts val="800"/>
              </a:spcAft>
            </a:pPr>
            <a:r>
              <a:rPr lang="en-IN" sz="12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1" name="Rectangle 8"/>
          <p:cNvSpPr>
            <a:spLocks noChangeArrowheads="1"/>
          </p:cNvSpPr>
          <p:nvPr/>
        </p:nvSpPr>
        <p:spPr bwMode="auto">
          <a:xfrm rot="10800000" flipV="1">
            <a:off x="329260" y="1950751"/>
            <a:ext cx="51468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3"/>
          <p:cNvSpPr/>
          <p:nvPr/>
        </p:nvSpPr>
        <p:spPr>
          <a:xfrm>
            <a:off x="411594" y="891384"/>
            <a:ext cx="8370097" cy="774699"/>
          </a:xfrm>
          <a:prstGeom prst="rect">
            <a:avLst/>
          </a:prstGeom>
        </p:spPr>
        <p:txBody>
          <a:bodyPr wrap="square">
            <a:spAutoFit/>
          </a:bodyPr>
          <a:lstStyle/>
          <a:p>
            <a:pPr algn="just">
              <a:lnSpc>
                <a:spcPct val="200000"/>
              </a:lnSpc>
            </a:pPr>
            <a:r>
              <a:rPr lang="en-US" sz="1200" b="1" dirty="0">
                <a:latin typeface="Times New Roman" panose="02020603050405020304" pitchFamily="18" charset="0"/>
                <a:ea typeface="Times New Roman" panose="02020603050405020304" pitchFamily="18" charset="0"/>
              </a:rPr>
              <a:t>Definition:</a:t>
            </a:r>
            <a:r>
              <a:rPr lang="en-US" sz="1200" dirty="0">
                <a:latin typeface="Times New Roman" panose="02020603050405020304" pitchFamily="18" charset="0"/>
                <a:ea typeface="Times New Roman" panose="02020603050405020304" pitchFamily="18" charset="0"/>
              </a:rPr>
              <a:t> Naive Bayes is a probabilistic classifier based on Bayes' Theorem, which applies the "naive" assumption that features are independent of each other. It is particularly effective for large datasets and text classification problems, such as spam detection.</a:t>
            </a:r>
            <a:endParaRPr lang="en-IN" sz="1200" dirty="0">
              <a:latin typeface="Times New Roman" panose="02020603050405020304" pitchFamily="18" charset="0"/>
              <a:ea typeface="Times New Roman" panose="02020603050405020304" pitchFamily="18" charset="0"/>
            </a:endParaRPr>
          </a:p>
        </p:txBody>
      </p:sp>
      <p:pic>
        <p:nvPicPr>
          <p:cNvPr id="12" name="Picture 11"/>
          <p:cNvPicPr/>
          <p:nvPr/>
        </p:nvPicPr>
        <p:blipFill>
          <a:blip r:embed="rId3"/>
          <a:stretch>
            <a:fillRect/>
          </a:stretch>
        </p:blipFill>
        <p:spPr>
          <a:xfrm>
            <a:off x="2001329" y="2008054"/>
            <a:ext cx="4779034" cy="2563946"/>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36</a:t>
            </a:fld>
            <a:endParaRPr lang="en-US" dirty="0"/>
          </a:p>
        </p:txBody>
      </p:sp>
      <p:sp>
        <p:nvSpPr>
          <p:cNvPr id="3" name="Rectangle 2"/>
          <p:cNvSpPr/>
          <p:nvPr/>
        </p:nvSpPr>
        <p:spPr>
          <a:xfrm>
            <a:off x="164592" y="539996"/>
            <a:ext cx="8467344" cy="405367"/>
          </a:xfrm>
          <a:prstGeom prst="rect">
            <a:avLst/>
          </a:prstGeom>
        </p:spPr>
        <p:txBody>
          <a:bodyPr wrap="square">
            <a:spAutoFit/>
          </a:bodyPr>
          <a:lstStyle/>
          <a:p>
            <a:pPr algn="just">
              <a:lnSpc>
                <a:spcPct val="200000"/>
              </a:lnSpc>
            </a:pPr>
            <a:r>
              <a:rPr lang="en-US" sz="1200" dirty="0" smtClean="0">
                <a:latin typeface="Times" panose="02020603050405020304" pitchFamily="18" charset="0"/>
                <a:cs typeface="Times" panose="02020603050405020304" pitchFamily="18" charset="0"/>
              </a:rPr>
              <a:t>               </a:t>
            </a:r>
            <a:endParaRPr lang="en-IN" sz="1200" dirty="0">
              <a:latin typeface="Times" panose="02020603050405020304" pitchFamily="18" charset="0"/>
              <a:cs typeface="Times" panose="02020603050405020304" pitchFamily="18" charset="0"/>
            </a:endParaRPr>
          </a:p>
        </p:txBody>
      </p:sp>
      <p:sp>
        <p:nvSpPr>
          <p:cNvPr id="4" name="Rectangle 3"/>
          <p:cNvSpPr/>
          <p:nvPr/>
        </p:nvSpPr>
        <p:spPr>
          <a:xfrm>
            <a:off x="624080" y="281204"/>
            <a:ext cx="8007856" cy="2215991"/>
          </a:xfrm>
          <a:prstGeom prst="rect">
            <a:avLst/>
          </a:prstGeom>
        </p:spPr>
        <p:txBody>
          <a:bodyPr wrap="square">
            <a:spAutoFit/>
          </a:bodyPr>
          <a:lstStyle/>
          <a:p>
            <a:pPr algn="just">
              <a:lnSpc>
                <a:spcPct val="200000"/>
              </a:lnSpc>
            </a:pPr>
            <a:r>
              <a:rPr lang="en-IN" sz="1200" b="1" dirty="0">
                <a:latin typeface="Times New Roman" panose="02020603050405020304" pitchFamily="18" charset="0"/>
                <a:cs typeface="Times New Roman" panose="02020603050405020304" pitchFamily="18" charset="0"/>
              </a:rPr>
              <a:t>Random Forest Classifier</a:t>
            </a:r>
          </a:p>
          <a:p>
            <a:pPr algn="just">
              <a:lnSpc>
                <a:spcPct val="200000"/>
              </a:lnSpc>
            </a:pPr>
            <a:r>
              <a:rPr lang="en-US" sz="1200" b="1" dirty="0">
                <a:latin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cs typeface="Times New Roman" panose="02020603050405020304" pitchFamily="18" charset="0"/>
              </a:rPr>
              <a:t> Random Forest is an ensemble learning algorithm that combines multiple decision trees to improve the accuracy and robustness of predictions. Each tree in the forest is built using a subset of the data, and the final prediction is based on the majority vote or average from all the trees. This method helps in reducing overfitting, which is a common problem in individual decision trees.</a:t>
            </a:r>
            <a:endParaRPr lang="en-IN" sz="1200"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stretch>
            <a:fillRect/>
          </a:stretch>
        </p:blipFill>
        <p:spPr>
          <a:xfrm>
            <a:off x="2156604" y="2311879"/>
            <a:ext cx="5387196" cy="2207416"/>
          </a:xfrm>
          <a:prstGeom prst="rect">
            <a:avLst/>
          </a:prstGeom>
        </p:spPr>
      </p:pic>
    </p:spTree>
    <p:extLst>
      <p:ext uri="{BB962C8B-B14F-4D97-AF65-F5344CB8AC3E}">
        <p14:creationId xmlns:p14="http://schemas.microsoft.com/office/powerpoint/2010/main" val="480504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37</a:t>
            </a:fld>
            <a:endParaRPr lang="en-US" dirty="0"/>
          </a:p>
        </p:txBody>
      </p:sp>
      <p:sp>
        <p:nvSpPr>
          <p:cNvPr id="4" name="Rectangle 3"/>
          <p:cNvSpPr/>
          <p:nvPr/>
        </p:nvSpPr>
        <p:spPr>
          <a:xfrm>
            <a:off x="614111" y="377297"/>
            <a:ext cx="8167580" cy="1513363"/>
          </a:xfrm>
          <a:prstGeom prst="rect">
            <a:avLst/>
          </a:prstGeom>
        </p:spPr>
        <p:txBody>
          <a:bodyPr wrap="square">
            <a:spAutoFit/>
          </a:bodyPr>
          <a:lstStyle/>
          <a:p>
            <a:pPr algn="just">
              <a:lnSpc>
                <a:spcPct val="150000"/>
              </a:lnSpc>
            </a:pPr>
            <a:r>
              <a:rPr lang="en-IN" sz="1200" b="1" dirty="0">
                <a:latin typeface="Times New Roman" panose="02020603050405020304" pitchFamily="18" charset="0"/>
                <a:cs typeface="Times New Roman" panose="02020603050405020304" pitchFamily="18" charset="0"/>
              </a:rPr>
              <a:t>Logistic Regression</a:t>
            </a:r>
          </a:p>
          <a:p>
            <a:pPr algn="just">
              <a:lnSpc>
                <a:spcPct val="150000"/>
              </a:lnSpc>
            </a:pPr>
            <a:r>
              <a:rPr lang="en-US" sz="1200" b="1" dirty="0">
                <a:latin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cs typeface="Times New Roman" panose="02020603050405020304" pitchFamily="18" charset="0"/>
              </a:rPr>
              <a:t> Logistic Regression is a statistical model used for binary classification problems. It predicts the probability of an instance belonging to a particular class using the logistic function (also known as the sigmoid function). Despite its name, logistic regression is used for classification, not regression.</a:t>
            </a:r>
            <a:endParaRPr lang="en-IN" sz="1200" dirty="0">
              <a:latin typeface="Times New Roman" panose="02020603050405020304" pitchFamily="18" charset="0"/>
              <a:cs typeface="Times New Roman" panose="02020603050405020304" pitchFamily="18" charset="0"/>
            </a:endParaRPr>
          </a:p>
          <a:p>
            <a:pPr lvl="0">
              <a:lnSpc>
                <a:spcPct val="200000"/>
              </a:lnSpc>
              <a:buSzPts val="1000"/>
              <a:tabLst>
                <a:tab pos="457200" algn="l"/>
              </a:tabLst>
            </a:pPr>
            <a:endParaRPr lang="en-IN" sz="12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4"/>
          <p:cNvSpPr/>
          <p:nvPr/>
        </p:nvSpPr>
        <p:spPr>
          <a:xfrm>
            <a:off x="169333" y="567078"/>
            <a:ext cx="9144000" cy="339773"/>
          </a:xfrm>
          <a:prstGeom prst="rect">
            <a:avLst/>
          </a:prstGeom>
        </p:spPr>
        <p:txBody>
          <a:bodyPr wrap="square">
            <a:spAutoFit/>
          </a:bodyPr>
          <a:lstStyle/>
          <a:p>
            <a:pPr marL="342900" lvl="0" indent="-342900" algn="just">
              <a:lnSpc>
                <a:spcPct val="150000"/>
              </a:lnSpc>
              <a:spcAft>
                <a:spcPts val="800"/>
              </a:spcAft>
              <a:buSzPts val="1000"/>
              <a:buFont typeface="Symbol" panose="05050102010706020507" pitchFamily="18" charset="2"/>
              <a:buChar char=""/>
              <a:tabLst>
                <a:tab pos="457200" algn="l"/>
              </a:tabLst>
            </a:pPr>
            <a:r>
              <a:rPr lang="en-IN" sz="12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p:cNvPicPr/>
          <p:nvPr/>
        </p:nvPicPr>
        <p:blipFill>
          <a:blip r:embed="rId2"/>
          <a:stretch>
            <a:fillRect/>
          </a:stretch>
        </p:blipFill>
        <p:spPr>
          <a:xfrm>
            <a:off x="2389537" y="1666875"/>
            <a:ext cx="4438650" cy="2809875"/>
          </a:xfrm>
          <a:prstGeom prst="rect">
            <a:avLst/>
          </a:prstGeom>
        </p:spPr>
      </p:pic>
    </p:spTree>
    <p:extLst>
      <p:ext uri="{BB962C8B-B14F-4D97-AF65-F5344CB8AC3E}">
        <p14:creationId xmlns:p14="http://schemas.microsoft.com/office/powerpoint/2010/main" val="9043952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38</a:t>
            </a:fld>
            <a:endParaRPr lang="en-US" dirty="0"/>
          </a:p>
        </p:txBody>
      </p:sp>
      <p:sp>
        <p:nvSpPr>
          <p:cNvPr id="5" name="Rectangle 4"/>
          <p:cNvSpPr/>
          <p:nvPr/>
        </p:nvSpPr>
        <p:spPr>
          <a:xfrm>
            <a:off x="0" y="-1"/>
            <a:ext cx="9144000" cy="646331"/>
          </a:xfrm>
          <a:prstGeom prst="rect">
            <a:avLst/>
          </a:prstGeom>
        </p:spPr>
        <p:txBody>
          <a:bodyPr wrap="square">
            <a:spAutoFit/>
          </a:bodyPr>
          <a:lstStyle/>
          <a:p>
            <a:pPr lvl="0"/>
            <a:endParaRPr lang="en-IN" sz="1200" dirty="0">
              <a:latin typeface="Times New Roman" panose="02020603050405020304" pitchFamily="18" charset="0"/>
              <a:cs typeface="Times New Roman" panose="02020603050405020304" pitchFamily="18" charset="0"/>
            </a:endParaRPr>
          </a:p>
          <a:p>
            <a:pPr marL="342900" lvl="0" indent="-342900">
              <a:lnSpc>
                <a:spcPct val="200000"/>
              </a:lnSpc>
              <a:buSzPts val="1000"/>
              <a:buFont typeface="Symbol" panose="05050102010706020507" pitchFamily="18" charset="2"/>
              <a:buChar char=""/>
              <a:tabLst>
                <a:tab pos="457200" algn="l"/>
              </a:tabLst>
            </a:pPr>
            <a:endParaRPr lang="en-IN" sz="1200" dirty="0">
              <a:latin typeface="Times New Roman" panose="02020603050405020304" pitchFamily="18" charset="0"/>
              <a:ea typeface="Times New Roman" panose="02020603050405020304" pitchFamily="18" charset="0"/>
            </a:endParaRPr>
          </a:p>
        </p:txBody>
      </p:sp>
      <p:sp>
        <p:nvSpPr>
          <p:cNvPr id="3" name="Rectangle 2"/>
          <p:cNvSpPr/>
          <p:nvPr/>
        </p:nvSpPr>
        <p:spPr>
          <a:xfrm>
            <a:off x="724619" y="483079"/>
            <a:ext cx="8108830" cy="1397947"/>
          </a:xfrm>
          <a:prstGeom prst="rect">
            <a:avLst/>
          </a:prstGeom>
        </p:spPr>
        <p:txBody>
          <a:bodyPr wrap="square">
            <a:spAutoFit/>
          </a:bodyPr>
          <a:lstStyle/>
          <a:p>
            <a:pPr>
              <a:lnSpc>
                <a:spcPct val="107000"/>
              </a:lnSpc>
              <a:spcBef>
                <a:spcPts val="200"/>
              </a:spcBef>
              <a:spcAft>
                <a:spcPts val="0"/>
              </a:spcAft>
            </a:pPr>
            <a:r>
              <a:rPr lang="en-IN" sz="1200" b="1" dirty="0">
                <a:latin typeface="Times New Roman" panose="02020603050405020304" pitchFamily="18" charset="0"/>
                <a:ea typeface="SimSun" panose="02010600030101010101" pitchFamily="2" charset="-122"/>
                <a:cs typeface="Times New Roman" panose="02020603050405020304" pitchFamily="18" charset="0"/>
              </a:rPr>
              <a:t>Gradient Boosting</a:t>
            </a:r>
          </a:p>
          <a:p>
            <a:pPr algn="just">
              <a:lnSpc>
                <a:spcPct val="200000"/>
              </a:lnSpc>
            </a:pPr>
            <a:r>
              <a:rPr lang="en-US" sz="1200" b="1" dirty="0">
                <a:latin typeface="Times New Roman" panose="02020603050405020304" pitchFamily="18" charset="0"/>
                <a:ea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Gradient Boosting is an ensemble technique that builds a series of weak models (usually decision trees) iteratively, where each new model corrects the errors made by the previous models. It is a powerful technique for both classification and regression tasks.</a:t>
            </a:r>
            <a:endParaRPr lang="en-IN"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7" name="Picture 6"/>
          <p:cNvPicPr/>
          <p:nvPr/>
        </p:nvPicPr>
        <p:blipFill>
          <a:blip r:embed="rId2"/>
          <a:stretch>
            <a:fillRect/>
          </a:stretch>
        </p:blipFill>
        <p:spPr>
          <a:xfrm>
            <a:off x="2293410" y="1881026"/>
            <a:ext cx="4591685" cy="2581275"/>
          </a:xfrm>
          <a:prstGeom prst="rect">
            <a:avLst/>
          </a:prstGeom>
        </p:spPr>
      </p:pic>
    </p:spTree>
    <p:extLst>
      <p:ext uri="{BB962C8B-B14F-4D97-AF65-F5344CB8AC3E}">
        <p14:creationId xmlns:p14="http://schemas.microsoft.com/office/powerpoint/2010/main" val="3185508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39</a:t>
            </a:fld>
            <a:endParaRPr lang="en-US" dirty="0"/>
          </a:p>
        </p:txBody>
      </p:sp>
      <p:sp>
        <p:nvSpPr>
          <p:cNvPr id="5" name="Rectangle 4"/>
          <p:cNvSpPr/>
          <p:nvPr/>
        </p:nvSpPr>
        <p:spPr>
          <a:xfrm>
            <a:off x="672859" y="517585"/>
            <a:ext cx="8195095" cy="1028615"/>
          </a:xfrm>
          <a:prstGeom prst="rect">
            <a:avLst/>
          </a:prstGeom>
        </p:spPr>
        <p:txBody>
          <a:bodyPr wrap="square">
            <a:spAutoFit/>
          </a:bodyPr>
          <a:lstStyle/>
          <a:p>
            <a:pPr>
              <a:lnSpc>
                <a:spcPct val="107000"/>
              </a:lnSpc>
              <a:spcBef>
                <a:spcPts val="200"/>
              </a:spcBef>
              <a:spcAft>
                <a:spcPts val="0"/>
              </a:spcAft>
            </a:pPr>
            <a:r>
              <a:rPr lang="en-IN" sz="1200" b="1" dirty="0">
                <a:latin typeface="Times New Roman" panose="02020603050405020304" pitchFamily="18" charset="0"/>
                <a:ea typeface="SimSun" panose="02010600030101010101" pitchFamily="2" charset="-122"/>
                <a:cs typeface="Times New Roman" panose="02020603050405020304" pitchFamily="18" charset="0"/>
              </a:rPr>
              <a:t>K-Nearest </a:t>
            </a:r>
            <a:r>
              <a:rPr lang="en-IN" sz="1200" b="1" dirty="0" err="1">
                <a:latin typeface="Times New Roman" panose="02020603050405020304" pitchFamily="18" charset="0"/>
                <a:ea typeface="SimSun" panose="02010600030101010101" pitchFamily="2" charset="-122"/>
                <a:cs typeface="Times New Roman" panose="02020603050405020304" pitchFamily="18" charset="0"/>
              </a:rPr>
              <a:t>Neighbors</a:t>
            </a:r>
            <a:r>
              <a:rPr lang="en-IN" sz="1200" b="1" dirty="0">
                <a:latin typeface="Times New Roman" panose="02020603050405020304" pitchFamily="18" charset="0"/>
                <a:ea typeface="SimSun" panose="02010600030101010101" pitchFamily="2" charset="-122"/>
                <a:cs typeface="Times New Roman" panose="02020603050405020304" pitchFamily="18" charset="0"/>
              </a:rPr>
              <a:t> (KNN)</a:t>
            </a:r>
          </a:p>
          <a:p>
            <a:pPr algn="just">
              <a:lnSpc>
                <a:spcPct val="200000"/>
              </a:lnSpc>
            </a:pPr>
            <a:r>
              <a:rPr lang="en-US" sz="1200" b="1" dirty="0">
                <a:latin typeface="Times New Roman" panose="02020603050405020304" pitchFamily="18" charset="0"/>
                <a:ea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K-Nearest Neighbors (KNN) is a non-parametric, instance-based learning algorithm used for classification and regression tasks. It classifies new data points based on the majority class of their k-nearest neighbors in the feature space.</a:t>
            </a:r>
            <a:endParaRPr lang="en-IN"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2305901" y="1857375"/>
            <a:ext cx="4601210" cy="2619375"/>
          </a:xfrm>
          <a:prstGeom prst="rect">
            <a:avLst/>
          </a:prstGeom>
        </p:spPr>
      </p:pic>
    </p:spTree>
    <p:extLst>
      <p:ext uri="{BB962C8B-B14F-4D97-AF65-F5344CB8AC3E}">
        <p14:creationId xmlns:p14="http://schemas.microsoft.com/office/powerpoint/2010/main" val="3527847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40</a:t>
            </a:fld>
            <a:endParaRPr lang="en-US" dirty="0"/>
          </a:p>
        </p:txBody>
      </p:sp>
      <p:sp>
        <p:nvSpPr>
          <p:cNvPr id="3" name="Rectangle 2"/>
          <p:cNvSpPr/>
          <p:nvPr/>
        </p:nvSpPr>
        <p:spPr>
          <a:xfrm>
            <a:off x="500332" y="534837"/>
            <a:ext cx="8298611" cy="1133259"/>
          </a:xfrm>
          <a:prstGeom prst="rect">
            <a:avLst/>
          </a:prstGeom>
        </p:spPr>
        <p:txBody>
          <a:bodyPr wrap="square">
            <a:spAutoFit/>
          </a:bodyPr>
          <a:lstStyle/>
          <a:p>
            <a:pPr algn="just">
              <a:lnSpc>
                <a:spcPct val="150000"/>
              </a:lnSpc>
            </a:pPr>
            <a:r>
              <a:rPr lang="en-IN" sz="1200" b="1" dirty="0">
                <a:latin typeface="Times New Roman" panose="02020603050405020304" pitchFamily="18" charset="0"/>
                <a:cs typeface="Times New Roman" panose="02020603050405020304" pitchFamily="18" charset="0"/>
              </a:rPr>
              <a:t>Support Vector Machine (SVM)</a:t>
            </a:r>
          </a:p>
          <a:p>
            <a:pPr algn="just">
              <a:lnSpc>
                <a:spcPct val="150000"/>
              </a:lnSpc>
            </a:pPr>
            <a:r>
              <a:rPr lang="en-US" sz="1200" b="1" dirty="0">
                <a:latin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cs typeface="Times New Roman" panose="02020603050405020304" pitchFamily="18" charset="0"/>
              </a:rPr>
              <a:t> Support Vector Machine (SVM) is a supervised learning algorithm used primarily for classification tasks. It works by finding the hyperplane that best separates data points of different classes with the largest possible margin.</a:t>
            </a:r>
            <a:endParaRPr lang="en-IN" sz="1200" dirty="0">
              <a:latin typeface="Times New Roman" panose="02020603050405020304" pitchFamily="18" charset="0"/>
              <a:cs typeface="Times New Roman" panose="02020603050405020304" pitchFamily="18" charset="0"/>
            </a:endParaRPr>
          </a:p>
          <a:p>
            <a:pPr>
              <a:lnSpc>
                <a:spcPct val="107000"/>
              </a:lnSpc>
              <a:spcBef>
                <a:spcPts val="200"/>
              </a:spcBef>
              <a:spcAft>
                <a:spcPts val="0"/>
              </a:spcAft>
            </a:pPr>
            <a:endParaRPr lang="en-IN" sz="1200" b="1" i="1" dirty="0">
              <a:latin typeface="Times" panose="02020603050405020304" pitchFamily="18" charset="0"/>
              <a:ea typeface="SimSun" panose="02010600030101010101" pitchFamily="2" charset="-122"/>
              <a:cs typeface="Times" panose="02020603050405020304" pitchFamily="18" charset="0"/>
            </a:endParaRPr>
          </a:p>
        </p:txBody>
      </p:sp>
      <p:pic>
        <p:nvPicPr>
          <p:cNvPr id="5" name="Picture 4"/>
          <p:cNvPicPr/>
          <p:nvPr/>
        </p:nvPicPr>
        <p:blipFill>
          <a:blip r:embed="rId2"/>
          <a:stretch>
            <a:fillRect/>
          </a:stretch>
        </p:blipFill>
        <p:spPr>
          <a:xfrm>
            <a:off x="2501749" y="1800225"/>
            <a:ext cx="4295775" cy="2781300"/>
          </a:xfrm>
          <a:prstGeom prst="rect">
            <a:avLst/>
          </a:prstGeom>
        </p:spPr>
      </p:pic>
    </p:spTree>
    <p:extLst>
      <p:ext uri="{BB962C8B-B14F-4D97-AF65-F5344CB8AC3E}">
        <p14:creationId xmlns:p14="http://schemas.microsoft.com/office/powerpoint/2010/main" val="15094422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41</a:t>
            </a:fld>
            <a:endParaRPr lang="en-US" dirty="0"/>
          </a:p>
        </p:txBody>
      </p:sp>
      <p:sp>
        <p:nvSpPr>
          <p:cNvPr id="3" name="Rectangle 2"/>
          <p:cNvSpPr/>
          <p:nvPr/>
        </p:nvSpPr>
        <p:spPr>
          <a:xfrm>
            <a:off x="3648845" y="166210"/>
            <a:ext cx="1393330" cy="415498"/>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513421" y="581708"/>
            <a:ext cx="8232588" cy="3693319"/>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[1] W. Gong, Y. </a:t>
            </a:r>
            <a:r>
              <a:rPr lang="en-US" sz="1200" dirty="0" err="1">
                <a:latin typeface="Times New Roman" panose="02020603050405020304" pitchFamily="18" charset="0"/>
                <a:cs typeface="Times New Roman" panose="02020603050405020304" pitchFamily="18" charset="0"/>
              </a:rPr>
              <a:t>Zha</a:t>
            </a:r>
            <a:r>
              <a:rPr lang="en-US" sz="1200" dirty="0">
                <a:latin typeface="Times New Roman" panose="02020603050405020304" pitchFamily="18" charset="0"/>
                <a:cs typeface="Times New Roman" panose="02020603050405020304" pitchFamily="18" charset="0"/>
              </a:rPr>
              <a:t>, and J. Tang, “Ransomware detection and classification using generative adversarial networks with dynamic weight adaptation,”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[2] W. </a:t>
            </a:r>
            <a:r>
              <a:rPr lang="en-US" sz="1200" dirty="0" err="1">
                <a:latin typeface="Times New Roman" panose="02020603050405020304" pitchFamily="18" charset="0"/>
                <a:cs typeface="Times New Roman" panose="02020603050405020304" pitchFamily="18" charset="0"/>
              </a:rPr>
              <a:t>Koyirar</a:t>
            </a:r>
            <a:r>
              <a:rPr lang="en-US" sz="1200" dirty="0">
                <a:latin typeface="Times New Roman" panose="02020603050405020304" pitchFamily="18" charset="0"/>
                <a:cs typeface="Times New Roman" panose="02020603050405020304" pitchFamily="18" charset="0"/>
              </a:rPr>
              <a:t>, B. Harris, J. Williams, A. Moreno, and E. Davis, “Efficient ransomware detection through process memory analysis in operating systems,”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[3] J. </a:t>
            </a:r>
            <a:r>
              <a:rPr lang="en-US" sz="1200" dirty="0" err="1">
                <a:latin typeface="Times New Roman" panose="02020603050405020304" pitchFamily="18" charset="0"/>
                <a:cs typeface="Times New Roman" panose="02020603050405020304" pitchFamily="18" charset="0"/>
              </a:rPr>
              <a:t>Axali</a:t>
            </a:r>
            <a:r>
              <a:rPr lang="en-US" sz="1200" dirty="0">
                <a:latin typeface="Times New Roman" panose="02020603050405020304" pitchFamily="18" charset="0"/>
                <a:cs typeface="Times New Roman" panose="02020603050405020304" pitchFamily="18" charset="0"/>
              </a:rPr>
              <a:t>, L. </a:t>
            </a:r>
            <a:r>
              <a:rPr lang="en-US" sz="1200" dirty="0" err="1">
                <a:latin typeface="Times New Roman" panose="02020603050405020304" pitchFamily="18" charset="0"/>
                <a:cs typeface="Times New Roman" panose="02020603050405020304" pitchFamily="18" charset="0"/>
              </a:rPr>
              <a:t>Devereaux</a:t>
            </a:r>
            <a:r>
              <a:rPr lang="en-US" sz="1200" dirty="0">
                <a:latin typeface="Times New Roman" panose="02020603050405020304" pitchFamily="18" charset="0"/>
                <a:cs typeface="Times New Roman" panose="02020603050405020304" pitchFamily="18" charset="0"/>
              </a:rPr>
              <a:t>, A. Spencer, and F. </a:t>
            </a:r>
            <a:r>
              <a:rPr lang="en-US" sz="1200" dirty="0" err="1">
                <a:latin typeface="Times New Roman" panose="02020603050405020304" pitchFamily="18" charset="0"/>
                <a:cs typeface="Times New Roman" panose="02020603050405020304" pitchFamily="18" charset="0"/>
              </a:rPr>
              <a:t>Vasilev</a:t>
            </a:r>
            <a:r>
              <a:rPr lang="en-US" sz="1200" dirty="0">
                <a:latin typeface="Times New Roman" panose="02020603050405020304" pitchFamily="18" charset="0"/>
                <a:cs typeface="Times New Roman" panose="02020603050405020304" pitchFamily="18" charset="0"/>
              </a:rPr>
              <a:t>, “A </a:t>
            </a:r>
            <a:r>
              <a:rPr lang="en-US" sz="1200" dirty="0" err="1">
                <a:latin typeface="Times New Roman" panose="02020603050405020304" pitchFamily="18" charset="0"/>
                <a:cs typeface="Times New Roman" panose="02020603050405020304" pitchFamily="18" charset="0"/>
              </a:rPr>
              <a:t>multicriteria</a:t>
            </a:r>
            <a:r>
              <a:rPr lang="en-US" sz="1200" dirty="0">
                <a:latin typeface="Times New Roman" panose="02020603050405020304" pitchFamily="18" charset="0"/>
                <a:cs typeface="Times New Roman" panose="02020603050405020304" pitchFamily="18" charset="0"/>
              </a:rPr>
              <a:t> decision-making approach for ransomware detection using </a:t>
            </a:r>
            <a:r>
              <a:rPr lang="en-US" sz="1200" dirty="0" err="1">
                <a:latin typeface="Times New Roman" panose="02020603050405020304" pitchFamily="18" charset="0"/>
                <a:cs typeface="Times New Roman" panose="02020603050405020304" pitchFamily="18" charset="0"/>
              </a:rPr>
              <a:t>mitre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att&amp;ck</a:t>
            </a:r>
            <a:r>
              <a:rPr lang="en-US" sz="1200" dirty="0">
                <a:latin typeface="Times New Roman" panose="02020603050405020304" pitchFamily="18" charset="0"/>
                <a:cs typeface="Times New Roman" panose="02020603050405020304" pitchFamily="18" charset="0"/>
              </a:rPr>
              <a:t> mitigation strategy,”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[4] H. </a:t>
            </a:r>
            <a:r>
              <a:rPr lang="en-US" sz="1200" dirty="0" err="1">
                <a:latin typeface="Times New Roman" panose="02020603050405020304" pitchFamily="18" charset="0"/>
                <a:cs typeface="Times New Roman" panose="02020603050405020304" pitchFamily="18" charset="0"/>
              </a:rPr>
              <a:t>Kowalczyk</a:t>
            </a:r>
            <a:r>
              <a:rPr lang="en-US" sz="1200" dirty="0">
                <a:latin typeface="Times New Roman" panose="02020603050405020304" pitchFamily="18" charset="0"/>
                <a:cs typeface="Times New Roman" panose="02020603050405020304" pitchFamily="18" charset="0"/>
              </a:rPr>
              <a:t>, P. </a:t>
            </a:r>
            <a:r>
              <a:rPr lang="en-US" sz="1200" dirty="0" err="1">
                <a:latin typeface="Times New Roman" panose="02020603050405020304" pitchFamily="18" charset="0"/>
                <a:cs typeface="Times New Roman" panose="02020603050405020304" pitchFamily="18" charset="0"/>
              </a:rPr>
              <a:t>Zieli’nski</a:t>
            </a:r>
            <a:r>
              <a:rPr lang="en-US" sz="1200" dirty="0">
                <a:latin typeface="Times New Roman" panose="02020603050405020304" pitchFamily="18" charset="0"/>
                <a:cs typeface="Times New Roman" panose="02020603050405020304" pitchFamily="18" charset="0"/>
              </a:rPr>
              <a:t>, and A. Nowak, “Dissecting </a:t>
            </a:r>
            <a:r>
              <a:rPr lang="en-US" sz="1200" dirty="0" err="1">
                <a:latin typeface="Times New Roman" panose="02020603050405020304" pitchFamily="18" charset="0"/>
                <a:cs typeface="Times New Roman" panose="02020603050405020304" pitchFamily="18" charset="0"/>
              </a:rPr>
              <a:t>macos</a:t>
            </a:r>
            <a:r>
              <a:rPr lang="en-US" sz="1200" dirty="0">
                <a:latin typeface="Times New Roman" panose="02020603050405020304" pitchFamily="18" charset="0"/>
                <a:cs typeface="Times New Roman" panose="02020603050405020304" pitchFamily="18" charset="0"/>
              </a:rPr>
              <a:t> ransomware: A comparative analysis and mitigation strategies,” 2024.</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 [5] Y. Brinkley, D. Thompson, and N. Simmons, “Machine learning-based intrusion detection for zero-day ransomware in unseen data,”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[6] O. </a:t>
            </a:r>
            <a:r>
              <a:rPr lang="en-US" sz="1200" dirty="0" err="1">
                <a:latin typeface="Times New Roman" panose="02020603050405020304" pitchFamily="18" charset="0"/>
                <a:cs typeface="Times New Roman" panose="02020603050405020304" pitchFamily="18" charset="0"/>
              </a:rPr>
              <a:t>Viddiu</a:t>
            </a:r>
            <a:r>
              <a:rPr lang="en-US" sz="1200" dirty="0">
                <a:latin typeface="Times New Roman" panose="02020603050405020304" pitchFamily="18" charset="0"/>
                <a:cs typeface="Times New Roman" panose="02020603050405020304" pitchFamily="18" charset="0"/>
              </a:rPr>
              <a:t>, G. Macpherson, E. Vasquez, I. </a:t>
            </a:r>
            <a:r>
              <a:rPr lang="en-US" sz="1200" dirty="0" err="1">
                <a:latin typeface="Times New Roman" panose="02020603050405020304" pitchFamily="18" charset="0"/>
                <a:cs typeface="Times New Roman" panose="02020603050405020304" pitchFamily="18" charset="0"/>
              </a:rPr>
              <a:t>Kamenova</a:t>
            </a:r>
            <a:r>
              <a:rPr lang="en-US" sz="1200" dirty="0">
                <a:latin typeface="Times New Roman" panose="02020603050405020304" pitchFamily="18" charset="0"/>
                <a:cs typeface="Times New Roman" panose="02020603050405020304" pitchFamily="18" charset="0"/>
              </a:rPr>
              <a:t>, and D. Calderon, “Automated ransomware detection using windows file system activity monitoring and a novel machine learning approach,” 2024. [7] J. Long and H. Liang, “</a:t>
            </a:r>
            <a:r>
              <a:rPr lang="en-US" sz="1200" dirty="0" err="1">
                <a:latin typeface="Times New Roman" panose="02020603050405020304" pitchFamily="18" charset="0"/>
                <a:cs typeface="Times New Roman" panose="02020603050405020304" pitchFamily="18" charset="0"/>
              </a:rPr>
              <a:t>Ranaway</a:t>
            </a:r>
            <a:r>
              <a:rPr lang="en-US" sz="1200" dirty="0">
                <a:latin typeface="Times New Roman" panose="02020603050405020304" pitchFamily="18" charset="0"/>
                <a:cs typeface="Times New Roman" panose="02020603050405020304" pitchFamily="18" charset="0"/>
              </a:rPr>
              <a:t>: A novel ransomware-resilient refs file system,” 2024. </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749967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42</a:t>
            </a:fld>
            <a:endParaRPr lang="en-US" dirty="0"/>
          </a:p>
        </p:txBody>
      </p:sp>
      <p:sp>
        <p:nvSpPr>
          <p:cNvPr id="4" name="Rectangle 3"/>
          <p:cNvSpPr/>
          <p:nvPr/>
        </p:nvSpPr>
        <p:spPr>
          <a:xfrm>
            <a:off x="336330" y="380776"/>
            <a:ext cx="8334705" cy="4491101"/>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[8] W. </a:t>
            </a:r>
            <a:r>
              <a:rPr lang="en-US" sz="1200" dirty="0" err="1">
                <a:latin typeface="Times New Roman" panose="02020603050405020304" pitchFamily="18" charset="0"/>
                <a:cs typeface="Times New Roman" panose="02020603050405020304" pitchFamily="18" charset="0"/>
              </a:rPr>
              <a:t>Labone</a:t>
            </a:r>
            <a:r>
              <a:rPr lang="en-US" sz="1200" dirty="0">
                <a:latin typeface="Times New Roman" panose="02020603050405020304" pitchFamily="18" charset="0"/>
                <a:cs typeface="Times New Roman" panose="02020603050405020304" pitchFamily="18" charset="0"/>
              </a:rPr>
              <a:t>, N. Brown, S. Bellini, C. Williams, T. Flores, and P. Johansson, “Unidirectional and bidirectional machine learning models for ransomware detection via malicious opcode discovery,” 2024. [9] T. McIntosh, A. </a:t>
            </a:r>
            <a:r>
              <a:rPr lang="en-US" sz="1200" dirty="0" err="1">
                <a:latin typeface="Times New Roman" panose="02020603050405020304" pitchFamily="18" charset="0"/>
                <a:cs typeface="Times New Roman" panose="02020603050405020304" pitchFamily="18" charset="0"/>
              </a:rPr>
              <a:t>Kayes</a:t>
            </a:r>
            <a:r>
              <a:rPr lang="en-US" sz="1200" dirty="0">
                <a:latin typeface="Times New Roman" panose="02020603050405020304" pitchFamily="18" charset="0"/>
                <a:cs typeface="Times New Roman" panose="02020603050405020304" pitchFamily="18" charset="0"/>
              </a:rPr>
              <a:t>, Y.-P. P. Chen, A. Ng, and P. Watters, “Applying staged event-driven access control to combat ransomware,” 2023.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[10] A. Olsson and D. </a:t>
            </a:r>
            <a:r>
              <a:rPr lang="en-US" sz="1200" dirty="0" err="1">
                <a:latin typeface="Times New Roman" panose="02020603050405020304" pitchFamily="18" charset="0"/>
                <a:cs typeface="Times New Roman" panose="02020603050405020304" pitchFamily="18" charset="0"/>
              </a:rPr>
              <a:t>Andersson</a:t>
            </a:r>
            <a:r>
              <a:rPr lang="en-US" sz="1200" dirty="0">
                <a:latin typeface="Times New Roman" panose="02020603050405020304" pitchFamily="18" charset="0"/>
                <a:cs typeface="Times New Roman" panose="02020603050405020304" pitchFamily="18" charset="0"/>
              </a:rPr>
              <a:t>, “The dark flows of cryptocurrency: an overview of money flow behaviors in bitcoin transactions related to online criminal activities and bitcoin mixers,”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[11] R. Jones and H. Davies, “High-performance digital forensic framework for anomalous ransomware detection in file system log data,”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[12] Y. Zhang and Z. Huang, “Unveiling hidden patterns: A computational analysis of less commonly labeled ransomware families,”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[13] M. </a:t>
            </a:r>
            <a:r>
              <a:rPr lang="en-US" sz="1200" dirty="0" err="1">
                <a:latin typeface="Times New Roman" panose="02020603050405020304" pitchFamily="18" charset="0"/>
                <a:cs typeface="Times New Roman" panose="02020603050405020304" pitchFamily="18" charset="0"/>
              </a:rPr>
              <a:t>Argene</a:t>
            </a:r>
            <a:r>
              <a:rPr lang="en-US" sz="1200" dirty="0">
                <a:latin typeface="Times New Roman" panose="02020603050405020304" pitchFamily="18" charset="0"/>
                <a:cs typeface="Times New Roman" panose="02020603050405020304" pitchFamily="18" charset="0"/>
              </a:rPr>
              <a:t>, C. Ravenscroft, and I. </a:t>
            </a:r>
            <a:r>
              <a:rPr lang="en-US" sz="1200" dirty="0" err="1">
                <a:latin typeface="Times New Roman" panose="02020603050405020304" pitchFamily="18" charset="0"/>
                <a:cs typeface="Times New Roman" panose="02020603050405020304" pitchFamily="18" charset="0"/>
              </a:rPr>
              <a:t>Kingswell</a:t>
            </a:r>
            <a:r>
              <a:rPr lang="en-US" sz="1200" dirty="0">
                <a:latin typeface="Times New Roman" panose="02020603050405020304" pitchFamily="18" charset="0"/>
                <a:cs typeface="Times New Roman" panose="02020603050405020304" pitchFamily="18" charset="0"/>
              </a:rPr>
              <a:t>, “Ransomware detection via cosine similarity-based machine learning on bytecode representations,”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[14] J. </a:t>
            </a:r>
            <a:r>
              <a:rPr lang="en-US" sz="1200" dirty="0" err="1">
                <a:latin typeface="Times New Roman" panose="02020603050405020304" pitchFamily="18" charset="0"/>
                <a:cs typeface="Times New Roman" panose="02020603050405020304" pitchFamily="18" charset="0"/>
              </a:rPr>
              <a:t>Rafapa</a:t>
            </a:r>
            <a:r>
              <a:rPr lang="en-US" sz="1200" dirty="0">
                <a:latin typeface="Times New Roman" panose="02020603050405020304" pitchFamily="18" charset="0"/>
                <a:cs typeface="Times New Roman" panose="02020603050405020304" pitchFamily="18" charset="0"/>
              </a:rPr>
              <a:t> and A. </a:t>
            </a:r>
            <a:r>
              <a:rPr lang="en-US" sz="1200" dirty="0" err="1">
                <a:latin typeface="Times New Roman" panose="02020603050405020304" pitchFamily="18" charset="0"/>
                <a:cs typeface="Times New Roman" panose="02020603050405020304" pitchFamily="18" charset="0"/>
              </a:rPr>
              <a:t>Konokix</a:t>
            </a:r>
            <a:r>
              <a:rPr lang="en-US" sz="1200" dirty="0">
                <a:latin typeface="Times New Roman" panose="02020603050405020304" pitchFamily="18" charset="0"/>
                <a:cs typeface="Times New Roman" panose="02020603050405020304" pitchFamily="18" charset="0"/>
              </a:rPr>
              <a:t>, “Ransomware detection using aggregated random forest technique with recent variants,” 2024. [20] A. </a:t>
            </a:r>
            <a:r>
              <a:rPr lang="en-US" sz="1200" dirty="0" err="1">
                <a:latin typeface="Times New Roman" panose="02020603050405020304" pitchFamily="18" charset="0"/>
                <a:cs typeface="Times New Roman" panose="02020603050405020304" pitchFamily="18" charset="0"/>
              </a:rPr>
              <a:t>Panaras</a:t>
            </a:r>
            <a:r>
              <a:rPr lang="en-US" sz="1200" dirty="0">
                <a:latin typeface="Times New Roman" panose="02020603050405020304" pitchFamily="18" charset="0"/>
                <a:cs typeface="Times New Roman" panose="02020603050405020304" pitchFamily="18" charset="0"/>
              </a:rPr>
              <a:t>, B. Silverstein, and S. Edwards, “Automated cooperative clustering for proactive ransomware detection and mitigation using machine learning,” 2024.</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 [15] J. Chen and G. Zhang, “Detecting stealthy ransomware in </a:t>
            </a:r>
            <a:r>
              <a:rPr lang="en-US" sz="1200" dirty="0" err="1">
                <a:latin typeface="Times New Roman" panose="02020603050405020304" pitchFamily="18" charset="0"/>
                <a:cs typeface="Times New Roman" panose="02020603050405020304" pitchFamily="18" charset="0"/>
              </a:rPr>
              <a:t>ipfs</a:t>
            </a:r>
            <a:r>
              <a:rPr lang="en-US" sz="1200" dirty="0">
                <a:latin typeface="Times New Roman" panose="02020603050405020304" pitchFamily="18" charset="0"/>
                <a:cs typeface="Times New Roman" panose="02020603050405020304" pitchFamily="18" charset="0"/>
              </a:rPr>
              <a:t> networks using machine learning,” 2024. </a:t>
            </a:r>
            <a:endParaRPr lang="en-IN" sz="1200" dirty="0">
              <a:latin typeface="Times New Roman" panose="02020603050405020304" pitchFamily="18" charset="0"/>
              <a:cs typeface="Times New Roman" panose="02020603050405020304" pitchFamily="18" charset="0"/>
            </a:endParaRPr>
          </a:p>
          <a:p>
            <a:pPr algn="just">
              <a:lnSpc>
                <a:spcPct val="150000"/>
              </a:lnSpc>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433731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78"/>
        <p:cNvGrpSpPr/>
        <p:nvPr/>
      </p:nvGrpSpPr>
      <p:grpSpPr>
        <a:xfrm>
          <a:off x="0" y="0"/>
          <a:ext cx="0" cy="0"/>
          <a:chOff x="0" y="0"/>
          <a:chExt cx="0" cy="0"/>
        </a:xfrm>
      </p:grpSpPr>
      <p:sp>
        <p:nvSpPr>
          <p:cNvPr id="2" name="Title 1"/>
          <p:cNvSpPr>
            <a:spLocks noGrp="1"/>
          </p:cNvSpPr>
          <p:nvPr>
            <p:ph type="title"/>
          </p:nvPr>
        </p:nvSpPr>
        <p:spPr>
          <a:xfrm>
            <a:off x="691515" y="1630680"/>
            <a:ext cx="8031480" cy="2084705"/>
          </a:xfrm>
        </p:spPr>
        <p:txBody>
          <a:bodyPr/>
          <a:lstStyle/>
          <a:p>
            <a:pPr algn="ctr"/>
            <a:r>
              <a:rPr lang="en-IN" altLang="en-US" sz="8000" dirty="0">
                <a:solidFill>
                  <a:schemeClr val="bg1"/>
                </a:solidFill>
              </a:rPr>
              <a:t>THANK YOU</a:t>
            </a:r>
          </a:p>
        </p:txBody>
      </p:sp>
      <p:sp>
        <p:nvSpPr>
          <p:cNvPr id="3" name="Rectangle 2"/>
          <p:cNvSpPr/>
          <p:nvPr/>
        </p:nvSpPr>
        <p:spPr>
          <a:xfrm>
            <a:off x="448573" y="552090"/>
            <a:ext cx="8274421" cy="3046988"/>
          </a:xfrm>
          <a:prstGeom prst="rect">
            <a:avLst/>
          </a:prstGeom>
        </p:spPr>
        <p:txBody>
          <a:bodyPr wrap="square">
            <a:spAutoFit/>
          </a:bodyPr>
          <a:lstStyle/>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[16] E. </a:t>
            </a:r>
            <a:r>
              <a:rPr lang="en-US" sz="1200" dirty="0" err="1">
                <a:latin typeface="Times New Roman" panose="02020603050405020304" pitchFamily="18" charset="0"/>
                <a:ea typeface="Calibri" panose="020F0502020204030204" pitchFamily="34" charset="0"/>
                <a:cs typeface="Times New Roman" panose="02020603050405020304" pitchFamily="18" charset="0"/>
              </a:rPr>
              <a:t>Gupret</a:t>
            </a:r>
            <a:r>
              <a:rPr lang="en-US" sz="1200" dirty="0">
                <a:latin typeface="Times New Roman" panose="02020603050405020304" pitchFamily="18" charset="0"/>
                <a:ea typeface="Calibri" panose="020F0502020204030204" pitchFamily="34" charset="0"/>
                <a:cs typeface="Times New Roman" panose="02020603050405020304" pitchFamily="18" charset="0"/>
              </a:rPr>
              <a:t>, A. Turner, C. Evans, R. Morgan, and M. Richardson,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Duallayer</a:t>
            </a:r>
            <a:r>
              <a:rPr lang="en-US" sz="1200" dirty="0">
                <a:latin typeface="Times New Roman" panose="02020603050405020304" pitchFamily="18" charset="0"/>
                <a:ea typeface="Calibri" panose="020F0502020204030204" pitchFamily="34" charset="0"/>
                <a:cs typeface="Times New Roman" panose="02020603050405020304" pitchFamily="18" charset="0"/>
              </a:rPr>
              <a:t> ransomware classification using opcode and network traffic similarity,” 2024.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[17] S. Wang, Y. Li, and F. Chen, “Optimizing blue team strategies with reinforcement learning for enhanced ransomware defense simulations,” 2024.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[18] M. </a:t>
            </a:r>
            <a:r>
              <a:rPr lang="en-US" sz="1200" dirty="0" err="1">
                <a:latin typeface="Times New Roman" panose="02020603050405020304" pitchFamily="18" charset="0"/>
                <a:ea typeface="Calibri" panose="020F0502020204030204" pitchFamily="34" charset="0"/>
                <a:cs typeface="Times New Roman" panose="02020603050405020304" pitchFamily="18" charset="0"/>
              </a:rPr>
              <a:t>Ozturk</a:t>
            </a:r>
            <a:r>
              <a:rPr lang="en-US" sz="1200" dirty="0">
                <a:latin typeface="Times New Roman" panose="02020603050405020304" pitchFamily="18" charset="0"/>
                <a:ea typeface="Calibri" panose="020F0502020204030204" pitchFamily="34" charset="0"/>
                <a:cs typeface="Times New Roman" panose="02020603050405020304" pitchFamily="18" charset="0"/>
              </a:rPr>
              <a:t>, B. Yilmaz, Z. </a:t>
            </a:r>
            <a:r>
              <a:rPr lang="en-US" sz="1200" dirty="0" err="1">
                <a:latin typeface="Times New Roman" panose="02020603050405020304" pitchFamily="18" charset="0"/>
                <a:ea typeface="Calibri" panose="020F0502020204030204" pitchFamily="34" charset="0"/>
                <a:cs typeface="Times New Roman" panose="02020603050405020304" pitchFamily="18" charset="0"/>
              </a:rPr>
              <a:t>Arslan</a:t>
            </a:r>
            <a:r>
              <a:rPr lang="en-US" sz="1200" dirty="0">
                <a:latin typeface="Times New Roman" panose="02020603050405020304" pitchFamily="18" charset="0"/>
                <a:ea typeface="Calibri" panose="020F0502020204030204" pitchFamily="34" charset="0"/>
                <a:cs typeface="Times New Roman" panose="02020603050405020304" pitchFamily="18" charset="0"/>
              </a:rPr>
              <a:t>, and A.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Demirbas</a:t>
            </a:r>
            <a:r>
              <a:rPr lang="en-US" sz="1200" dirty="0">
                <a:latin typeface="Times New Roman" panose="02020603050405020304" pitchFamily="18" charset="0"/>
                <a:ea typeface="Calibri" panose="020F0502020204030204" pitchFamily="34" charset="0"/>
                <a:cs typeface="Times New Roman" panose="02020603050405020304" pitchFamily="18" charset="0"/>
              </a:rPr>
              <a:t>, “An effective strategy for ransomware mitigation on android devices via android </a:t>
            </a:r>
            <a:r>
              <a:rPr lang="en-US" sz="1200" dirty="0" err="1">
                <a:latin typeface="Times New Roman" panose="02020603050405020304" pitchFamily="18" charset="0"/>
                <a:ea typeface="Calibri" panose="020F0502020204030204" pitchFamily="34" charset="0"/>
                <a:cs typeface="Times New Roman" panose="02020603050405020304" pitchFamily="18" charset="0"/>
              </a:rPr>
              <a:t>os</a:t>
            </a:r>
            <a:r>
              <a:rPr lang="en-US" sz="1200" dirty="0">
                <a:latin typeface="Times New Roman" panose="02020603050405020304" pitchFamily="18" charset="0"/>
                <a:ea typeface="Calibri" panose="020F0502020204030204" pitchFamily="34" charset="0"/>
                <a:cs typeface="Times New Roman" panose="02020603050405020304" pitchFamily="18" charset="0"/>
              </a:rPr>
              <a:t> file system </a:t>
            </a:r>
            <a:r>
              <a:rPr lang="en-US" sz="1200" dirty="0" err="1">
                <a:latin typeface="Times New Roman" panose="02020603050405020304" pitchFamily="18" charset="0"/>
                <a:ea typeface="Calibri" panose="020F0502020204030204" pitchFamily="34" charset="0"/>
                <a:cs typeface="Times New Roman" panose="02020603050405020304" pitchFamily="18" charset="0"/>
              </a:rPr>
              <a:t>api</a:t>
            </a:r>
            <a:r>
              <a:rPr lang="en-US" sz="1200" dirty="0">
                <a:latin typeface="Times New Roman" panose="02020603050405020304" pitchFamily="18" charset="0"/>
                <a:ea typeface="Calibri" panose="020F0502020204030204" pitchFamily="34" charset="0"/>
                <a:cs typeface="Times New Roman" panose="02020603050405020304" pitchFamily="18" charset="0"/>
              </a:rPr>
              <a:t>,” 2024.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[19] S. Liu and X. Chen, “Applying moving target defense against data theft ransomware on windows </a:t>
            </a:r>
            <a:r>
              <a:rPr lang="en-US" sz="1200" dirty="0" err="1">
                <a:latin typeface="Times New Roman" panose="02020603050405020304" pitchFamily="18" charset="0"/>
                <a:ea typeface="Calibri" panose="020F0502020204030204" pitchFamily="34" charset="0"/>
                <a:cs typeface="Times New Roman" panose="02020603050405020304" pitchFamily="18" charset="0"/>
              </a:rPr>
              <a:t>os</a:t>
            </a:r>
            <a:r>
              <a:rPr lang="en-US" sz="1200" dirty="0">
                <a:latin typeface="Times New Roman" panose="02020603050405020304" pitchFamily="18" charset="0"/>
                <a:ea typeface="Calibri" panose="020F0502020204030204" pitchFamily="34" charset="0"/>
                <a:cs typeface="Times New Roman" panose="02020603050405020304" pitchFamily="18" charset="0"/>
              </a:rPr>
              <a:t>,” 2023.</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[20] I. M. El </a:t>
            </a:r>
            <a:r>
              <a:rPr lang="en-US" sz="1200" dirty="0" err="1">
                <a:latin typeface="Times New Roman" panose="02020603050405020304" pitchFamily="18" charset="0"/>
                <a:ea typeface="Calibri" panose="020F0502020204030204" pitchFamily="34" charset="0"/>
                <a:cs typeface="Times New Roman" panose="02020603050405020304" pitchFamily="18" charset="0"/>
              </a:rPr>
              <a:t>Emary</a:t>
            </a:r>
            <a:r>
              <a:rPr lang="en-US" sz="1200" dirty="0">
                <a:latin typeface="Times New Roman" panose="02020603050405020304" pitchFamily="18" charset="0"/>
                <a:ea typeface="Calibri" panose="020F0502020204030204" pitchFamily="34" charset="0"/>
                <a:cs typeface="Times New Roman" panose="02020603050405020304" pitchFamily="18" charset="0"/>
              </a:rPr>
              <a:t> and K. A. </a:t>
            </a:r>
            <a:r>
              <a:rPr lang="en-US" sz="1200" dirty="0" err="1">
                <a:latin typeface="Times New Roman" panose="02020603050405020304" pitchFamily="18" charset="0"/>
                <a:ea typeface="Calibri" panose="020F0502020204030204" pitchFamily="34" charset="0"/>
                <a:cs typeface="Times New Roman" panose="02020603050405020304" pitchFamily="18" charset="0"/>
              </a:rPr>
              <a:t>Yaghi</a:t>
            </a:r>
            <a:r>
              <a:rPr lang="en-US" sz="1200" dirty="0">
                <a:latin typeface="Times New Roman" panose="02020603050405020304" pitchFamily="18" charset="0"/>
                <a:ea typeface="Calibri" panose="020F0502020204030204" pitchFamily="34" charset="0"/>
                <a:cs typeface="Times New Roman" panose="02020603050405020304" pitchFamily="18" charset="0"/>
              </a:rPr>
              <a:t>, “Machine learning classifier algorithms for ransomware </a:t>
            </a:r>
            <a:r>
              <a:rPr lang="en-US" sz="1200" dirty="0" err="1">
                <a:latin typeface="Times New Roman" panose="02020603050405020304" pitchFamily="18" charset="0"/>
                <a:ea typeface="Calibri" panose="020F0502020204030204" pitchFamily="34" charset="0"/>
                <a:cs typeface="Times New Roman" panose="02020603050405020304" pitchFamily="18" charset="0"/>
              </a:rPr>
              <a:t>lockbit</a:t>
            </a:r>
            <a:r>
              <a:rPr lang="en-US" sz="1200" dirty="0">
                <a:latin typeface="Times New Roman" panose="02020603050405020304" pitchFamily="18" charset="0"/>
                <a:ea typeface="Calibri" panose="020F0502020204030204" pitchFamily="34" charset="0"/>
                <a:cs typeface="Times New Roman" panose="02020603050405020304" pitchFamily="18" charset="0"/>
              </a:rPr>
              <a:t> prediction,” 2024.</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752</TotalTime>
  <Words>4756</Words>
  <Application>Microsoft Office PowerPoint</Application>
  <PresentationFormat>On-screen Show (16:9)</PresentationFormat>
  <Paragraphs>240</Paragraphs>
  <Slides>43</Slides>
  <Notes>14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43</vt:i4>
      </vt:variant>
    </vt:vector>
  </HeadingPairs>
  <TitlesOfParts>
    <vt:vector size="55" baseType="lpstr">
      <vt:lpstr>Bebas Neue</vt:lpstr>
      <vt:lpstr>Times</vt:lpstr>
      <vt:lpstr>Poppins</vt:lpstr>
      <vt:lpstr>Symbol</vt:lpstr>
      <vt:lpstr>SimSun</vt:lpstr>
      <vt:lpstr>Wingdings</vt:lpstr>
      <vt:lpstr>Arial</vt:lpstr>
      <vt:lpstr>Calibri</vt:lpstr>
      <vt:lpstr>Poppins Black</vt:lpstr>
      <vt:lpstr>Times New Roman</vt:lpstr>
      <vt:lpstr>Garamond</vt:lpstr>
      <vt:lpstr>Organic</vt:lpstr>
      <vt:lpstr>PowerPoint Presentation</vt:lpstr>
      <vt:lpstr>Contents of the presentation</vt:lpstr>
      <vt:lpstr>Project Description</vt:lpstr>
      <vt:lpstr>Problem Statement</vt:lpstr>
      <vt:lpstr>Objective of the Project</vt:lpstr>
      <vt:lpstr>PowerPoint Presentation</vt:lpstr>
      <vt:lpstr>PowerPoint Presentation</vt:lpstr>
      <vt:lpstr>Literature Survey</vt:lpstr>
      <vt:lpstr>PowerPoint Presentation</vt:lpstr>
      <vt:lpstr>PowerPoint Presentation</vt:lpstr>
      <vt:lpstr>PowerPoint Presentation</vt:lpstr>
      <vt:lpstr>Proposed System</vt:lpstr>
      <vt:lpstr>PowerPoint Presentation</vt:lpstr>
      <vt:lpstr>Architecture</vt:lpstr>
      <vt:lpstr>Resource Requirements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Gap analysis</vt:lpstr>
      <vt:lpstr>PowerPoint Presentation</vt:lpstr>
      <vt:lpstr>PowerPoint Presentation</vt:lpstr>
      <vt:lpstr>Implementation</vt:lpstr>
      <vt:lpstr>Data Description</vt:lpstr>
      <vt:lpstr>PowerPoint Presentation</vt:lpstr>
      <vt:lpstr>Algorithm Definition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Bhuvaneswari V</cp:lastModifiedBy>
  <cp:revision>166</cp:revision>
  <dcterms:created xsi:type="dcterms:W3CDTF">2024-08-17T15:37:17Z</dcterms:created>
  <dcterms:modified xsi:type="dcterms:W3CDTF">2024-11-19T07:21:24Z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